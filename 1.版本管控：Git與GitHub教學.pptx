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7"/>
  </p:notesMasterIdLst>
  <p:sldIdLst>
    <p:sldId id="319" r:id="rId2"/>
    <p:sldId id="353" r:id="rId3"/>
    <p:sldId id="354" r:id="rId4"/>
    <p:sldId id="365" r:id="rId5"/>
    <p:sldId id="375" r:id="rId6"/>
    <p:sldId id="376" r:id="rId7"/>
    <p:sldId id="387" r:id="rId8"/>
    <p:sldId id="399" r:id="rId9"/>
    <p:sldId id="401" r:id="rId10"/>
    <p:sldId id="402" r:id="rId11"/>
    <p:sldId id="404" r:id="rId12"/>
    <p:sldId id="406" r:id="rId13"/>
    <p:sldId id="407" r:id="rId14"/>
    <p:sldId id="408" r:id="rId15"/>
    <p:sldId id="400" r:id="rId16"/>
    <p:sldId id="369" r:id="rId17"/>
    <p:sldId id="388" r:id="rId18"/>
    <p:sldId id="368" r:id="rId19"/>
    <p:sldId id="374" r:id="rId20"/>
    <p:sldId id="377" r:id="rId21"/>
    <p:sldId id="378" r:id="rId22"/>
    <p:sldId id="412" r:id="rId23"/>
    <p:sldId id="383" r:id="rId24"/>
    <p:sldId id="356" r:id="rId25"/>
    <p:sldId id="358" r:id="rId26"/>
    <p:sldId id="362" r:id="rId27"/>
    <p:sldId id="363" r:id="rId28"/>
    <p:sldId id="361" r:id="rId29"/>
    <p:sldId id="360" r:id="rId30"/>
    <p:sldId id="389" r:id="rId31"/>
    <p:sldId id="390" r:id="rId32"/>
    <p:sldId id="398" r:id="rId33"/>
    <p:sldId id="396" r:id="rId34"/>
    <p:sldId id="392" r:id="rId35"/>
    <p:sldId id="393" r:id="rId36"/>
    <p:sldId id="394" r:id="rId37"/>
    <p:sldId id="395" r:id="rId38"/>
    <p:sldId id="397" r:id="rId39"/>
    <p:sldId id="410" r:id="rId40"/>
    <p:sldId id="411" r:id="rId41"/>
    <p:sldId id="403" r:id="rId42"/>
    <p:sldId id="405" r:id="rId43"/>
    <p:sldId id="409" r:id="rId44"/>
    <p:sldId id="384" r:id="rId45"/>
    <p:sldId id="357" r:id="rId4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  <a:srgbClr val="C0C0C0"/>
    <a:srgbClr val="FF6600"/>
    <a:srgbClr val="DDDDDD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5" autoAdjust="0"/>
  </p:normalViewPr>
  <p:slideViewPr>
    <p:cSldViewPr>
      <p:cViewPr varScale="1">
        <p:scale>
          <a:sx n="105" d="100"/>
          <a:sy n="105" d="100"/>
        </p:scale>
        <p:origin x="171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6C6D35-3ED2-4990-B40D-456302A76419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57AB13DC-8243-4551-90F7-8F14B3999DEF}">
      <dgm:prSet phldrT="[文字]" custT="1"/>
      <dgm:spPr/>
      <dgm:t>
        <a:bodyPr/>
        <a:lstStyle/>
        <a:p>
          <a:r>
            <a:rPr lang="zh-TW" altLang="en-US" sz="2400" dirty="0" smtClean="0"/>
            <a:t>工作目錄</a:t>
          </a:r>
          <a:r>
            <a:rPr lang="en-US" altLang="en-US" sz="2400" dirty="0" smtClean="0"/>
            <a:t>(Working directory)</a:t>
          </a:r>
          <a:endParaRPr lang="zh-TW" altLang="en-US" sz="2400" dirty="0" smtClean="0"/>
        </a:p>
      </dgm:t>
    </dgm:pt>
    <dgm:pt modelId="{43F51965-7624-49FA-8001-164F6E69F450}" type="parTrans" cxnId="{15B44352-0897-48D1-981E-35CD410C9942}">
      <dgm:prSet/>
      <dgm:spPr/>
      <dgm:t>
        <a:bodyPr/>
        <a:lstStyle/>
        <a:p>
          <a:endParaRPr lang="zh-TW" altLang="en-US"/>
        </a:p>
      </dgm:t>
    </dgm:pt>
    <dgm:pt modelId="{7D99CE61-C6BB-4996-B635-25A0B40A0542}" type="sibTrans" cxnId="{15B44352-0897-48D1-981E-35CD410C9942}">
      <dgm:prSet/>
      <dgm:spPr/>
      <dgm:t>
        <a:bodyPr/>
        <a:lstStyle/>
        <a:p>
          <a:endParaRPr lang="zh-TW" altLang="en-US"/>
        </a:p>
      </dgm:t>
    </dgm:pt>
    <dgm:pt modelId="{4F1B5476-22DC-4A27-8684-A2635A8BE628}">
      <dgm:prSet phldrT="[文字]" custT="1"/>
      <dgm:spPr/>
      <dgm:t>
        <a:bodyPr/>
        <a:lstStyle/>
        <a:p>
          <a:r>
            <a:rPr lang="zh-TW" altLang="en-US" sz="2400" dirty="0" smtClean="0"/>
            <a:t>暫存區</a:t>
          </a:r>
          <a:r>
            <a:rPr lang="en-US" altLang="en-US" sz="2400" dirty="0" smtClean="0"/>
            <a:t>(Staging area)</a:t>
          </a:r>
          <a:endParaRPr lang="zh-TW" altLang="en-US" sz="2400" dirty="0" smtClean="0"/>
        </a:p>
      </dgm:t>
    </dgm:pt>
    <dgm:pt modelId="{750AB931-41F0-4FD0-B2CB-364E9E42F567}" type="parTrans" cxnId="{782E0FC1-8301-4DE4-9DBF-CB6C65DA046B}">
      <dgm:prSet/>
      <dgm:spPr/>
      <dgm:t>
        <a:bodyPr/>
        <a:lstStyle/>
        <a:p>
          <a:endParaRPr lang="zh-TW" altLang="en-US"/>
        </a:p>
      </dgm:t>
    </dgm:pt>
    <dgm:pt modelId="{2940D60B-9396-4A7E-B87A-FBFB54B9B6D9}" type="sibTrans" cxnId="{782E0FC1-8301-4DE4-9DBF-CB6C65DA046B}">
      <dgm:prSet/>
      <dgm:spPr/>
      <dgm:t>
        <a:bodyPr/>
        <a:lstStyle/>
        <a:p>
          <a:endParaRPr lang="zh-TW" altLang="en-US"/>
        </a:p>
      </dgm:t>
    </dgm:pt>
    <dgm:pt modelId="{4894FBF6-7163-4601-B2BF-ABED0B4B625A}">
      <dgm:prSet phldrT="[文字]" custT="1"/>
      <dgm:spPr/>
      <dgm:t>
        <a:bodyPr/>
        <a:lstStyle/>
        <a:p>
          <a:r>
            <a:rPr lang="zh-TW" altLang="en-US" sz="2400" dirty="0" smtClean="0"/>
            <a:t>儲存庫</a:t>
          </a:r>
          <a:r>
            <a:rPr lang="en-US" altLang="en-US" sz="2400" dirty="0" smtClean="0"/>
            <a:t>(Repository)</a:t>
          </a:r>
          <a:endParaRPr lang="zh-TW" altLang="en-US" sz="2400" dirty="0" smtClean="0"/>
        </a:p>
      </dgm:t>
    </dgm:pt>
    <dgm:pt modelId="{053679C8-02F9-4177-A806-EB94B5097DF3}" type="parTrans" cxnId="{F5130F5D-7927-4A72-86DB-B6566290E55F}">
      <dgm:prSet/>
      <dgm:spPr/>
      <dgm:t>
        <a:bodyPr/>
        <a:lstStyle/>
        <a:p>
          <a:endParaRPr lang="zh-TW" altLang="en-US"/>
        </a:p>
      </dgm:t>
    </dgm:pt>
    <dgm:pt modelId="{8B579A9F-AB89-4A65-87E8-13166C573B71}" type="sibTrans" cxnId="{F5130F5D-7927-4A72-86DB-B6566290E55F}">
      <dgm:prSet/>
      <dgm:spPr/>
      <dgm:t>
        <a:bodyPr/>
        <a:lstStyle/>
        <a:p>
          <a:endParaRPr lang="zh-TW" altLang="en-US"/>
        </a:p>
      </dgm:t>
    </dgm:pt>
    <dgm:pt modelId="{742C737B-19C0-4D3F-B09F-EA7E8977D76F}" type="pres">
      <dgm:prSet presAssocID="{C86C6D35-3ED2-4990-B40D-456302A76419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E4EE66AE-85C5-4B55-B16F-7F20417ECA60}" type="pres">
      <dgm:prSet presAssocID="{C86C6D35-3ED2-4990-B40D-456302A76419}" presName="dummyMaxCanvas" presStyleCnt="0">
        <dgm:presLayoutVars/>
      </dgm:prSet>
      <dgm:spPr/>
    </dgm:pt>
    <dgm:pt modelId="{B7D418DA-7200-4067-9EBF-A12BE93B5DDB}" type="pres">
      <dgm:prSet presAssocID="{C86C6D35-3ED2-4990-B40D-456302A76419}" presName="ThreeNodes_1" presStyleLbl="node1" presStyleIdx="0" presStyleCnt="3" custScaleX="7454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D6235EF-26F4-4102-9637-6A8A17F76ACE}" type="pres">
      <dgm:prSet presAssocID="{C86C6D35-3ED2-4990-B40D-456302A76419}" presName="ThreeNodes_2" presStyleLbl="node1" presStyleIdx="1" presStyleCnt="3" custScaleX="7454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3CC01F6-8EF4-4686-9AD2-82AD534364D0}" type="pres">
      <dgm:prSet presAssocID="{C86C6D35-3ED2-4990-B40D-456302A76419}" presName="ThreeNodes_3" presStyleLbl="node1" presStyleIdx="2" presStyleCnt="3" custScaleX="7454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94EF801-919C-4052-81C9-B76A4DE2A6CE}" type="pres">
      <dgm:prSet presAssocID="{C86C6D35-3ED2-4990-B40D-456302A76419}" presName="ThreeConn_1-2" presStyleLbl="fgAccFollowNode1" presStyleIdx="0" presStyleCnt="2" custLinFactX="-5664" custLinFactNeighborX="-1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1A73282-CC9A-4979-AA02-69AE3ED6679E}" type="pres">
      <dgm:prSet presAssocID="{C86C6D35-3ED2-4990-B40D-456302A76419}" presName="ThreeConn_2-3" presStyleLbl="fgAccFollowNode1" presStyleIdx="1" presStyleCnt="2" custLinFactX="-5664" custLinFactNeighborX="-1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45E8AC9-04E8-4115-8EDE-12ABB2777CBE}" type="pres">
      <dgm:prSet presAssocID="{C86C6D35-3ED2-4990-B40D-456302A76419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D1FE586-D161-4486-9596-AE7328D9FCF3}" type="pres">
      <dgm:prSet presAssocID="{C86C6D35-3ED2-4990-B40D-456302A76419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B980B7E-77D3-40FF-896F-0FBB8C9013BA}" type="pres">
      <dgm:prSet presAssocID="{C86C6D35-3ED2-4990-B40D-456302A76419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672AF65-9B80-4CDD-84C8-9CEDF6B568D4}" type="presOf" srcId="{4F1B5476-22DC-4A27-8684-A2635A8BE628}" destId="{2D6235EF-26F4-4102-9637-6A8A17F76ACE}" srcOrd="0" destOrd="0" presId="urn:microsoft.com/office/officeart/2005/8/layout/vProcess5"/>
    <dgm:cxn modelId="{9612186E-6DB4-42D2-8F1D-38CFEE6AFDC0}" type="presOf" srcId="{4894FBF6-7163-4601-B2BF-ABED0B4B625A}" destId="{5B980B7E-77D3-40FF-896F-0FBB8C9013BA}" srcOrd="1" destOrd="0" presId="urn:microsoft.com/office/officeart/2005/8/layout/vProcess5"/>
    <dgm:cxn modelId="{272D7D08-83C1-4BEB-8AB4-0AE6CE574740}" type="presOf" srcId="{57AB13DC-8243-4551-90F7-8F14B3999DEF}" destId="{B7D418DA-7200-4067-9EBF-A12BE93B5DDB}" srcOrd="0" destOrd="0" presId="urn:microsoft.com/office/officeart/2005/8/layout/vProcess5"/>
    <dgm:cxn modelId="{B17D4CE4-8CFB-4C93-8DDC-93C03B8EFDD4}" type="presOf" srcId="{C86C6D35-3ED2-4990-B40D-456302A76419}" destId="{742C737B-19C0-4D3F-B09F-EA7E8977D76F}" srcOrd="0" destOrd="0" presId="urn:microsoft.com/office/officeart/2005/8/layout/vProcess5"/>
    <dgm:cxn modelId="{E6F1C2D2-C8C4-48A1-A56C-FBD0B5877BFC}" type="presOf" srcId="{57AB13DC-8243-4551-90F7-8F14B3999DEF}" destId="{B45E8AC9-04E8-4115-8EDE-12ABB2777CBE}" srcOrd="1" destOrd="0" presId="urn:microsoft.com/office/officeart/2005/8/layout/vProcess5"/>
    <dgm:cxn modelId="{068F26AF-DB2B-4BDF-8AAC-C5134B295521}" type="presOf" srcId="{4F1B5476-22DC-4A27-8684-A2635A8BE628}" destId="{0D1FE586-D161-4486-9596-AE7328D9FCF3}" srcOrd="1" destOrd="0" presId="urn:microsoft.com/office/officeart/2005/8/layout/vProcess5"/>
    <dgm:cxn modelId="{62F8A53D-95E2-477D-A87D-733473E6F84E}" type="presOf" srcId="{7D99CE61-C6BB-4996-B635-25A0B40A0542}" destId="{B94EF801-919C-4052-81C9-B76A4DE2A6CE}" srcOrd="0" destOrd="0" presId="urn:microsoft.com/office/officeart/2005/8/layout/vProcess5"/>
    <dgm:cxn modelId="{15B44352-0897-48D1-981E-35CD410C9942}" srcId="{C86C6D35-3ED2-4990-B40D-456302A76419}" destId="{57AB13DC-8243-4551-90F7-8F14B3999DEF}" srcOrd="0" destOrd="0" parTransId="{43F51965-7624-49FA-8001-164F6E69F450}" sibTransId="{7D99CE61-C6BB-4996-B635-25A0B40A0542}"/>
    <dgm:cxn modelId="{F5130F5D-7927-4A72-86DB-B6566290E55F}" srcId="{C86C6D35-3ED2-4990-B40D-456302A76419}" destId="{4894FBF6-7163-4601-B2BF-ABED0B4B625A}" srcOrd="2" destOrd="0" parTransId="{053679C8-02F9-4177-A806-EB94B5097DF3}" sibTransId="{8B579A9F-AB89-4A65-87E8-13166C573B71}"/>
    <dgm:cxn modelId="{782E0FC1-8301-4DE4-9DBF-CB6C65DA046B}" srcId="{C86C6D35-3ED2-4990-B40D-456302A76419}" destId="{4F1B5476-22DC-4A27-8684-A2635A8BE628}" srcOrd="1" destOrd="0" parTransId="{750AB931-41F0-4FD0-B2CB-364E9E42F567}" sibTransId="{2940D60B-9396-4A7E-B87A-FBFB54B9B6D9}"/>
    <dgm:cxn modelId="{80A9B1B5-C74F-4C7E-B2AC-0D032262489E}" type="presOf" srcId="{2940D60B-9396-4A7E-B87A-FBFB54B9B6D9}" destId="{51A73282-CC9A-4979-AA02-69AE3ED6679E}" srcOrd="0" destOrd="0" presId="urn:microsoft.com/office/officeart/2005/8/layout/vProcess5"/>
    <dgm:cxn modelId="{B4DCCDC3-3DB2-4947-86B9-8ABA774B7DED}" type="presOf" srcId="{4894FBF6-7163-4601-B2BF-ABED0B4B625A}" destId="{E3CC01F6-8EF4-4686-9AD2-82AD534364D0}" srcOrd="0" destOrd="0" presId="urn:microsoft.com/office/officeart/2005/8/layout/vProcess5"/>
    <dgm:cxn modelId="{F44C528F-7E2F-4029-97B7-64295471A1D9}" type="presParOf" srcId="{742C737B-19C0-4D3F-B09F-EA7E8977D76F}" destId="{E4EE66AE-85C5-4B55-B16F-7F20417ECA60}" srcOrd="0" destOrd="0" presId="urn:microsoft.com/office/officeart/2005/8/layout/vProcess5"/>
    <dgm:cxn modelId="{D94BF5DD-ADA4-496C-9D30-30FEB5A8E472}" type="presParOf" srcId="{742C737B-19C0-4D3F-B09F-EA7E8977D76F}" destId="{B7D418DA-7200-4067-9EBF-A12BE93B5DDB}" srcOrd="1" destOrd="0" presId="urn:microsoft.com/office/officeart/2005/8/layout/vProcess5"/>
    <dgm:cxn modelId="{B0CFC3E0-809A-4E41-B192-C8945C1C2440}" type="presParOf" srcId="{742C737B-19C0-4D3F-B09F-EA7E8977D76F}" destId="{2D6235EF-26F4-4102-9637-6A8A17F76ACE}" srcOrd="2" destOrd="0" presId="urn:microsoft.com/office/officeart/2005/8/layout/vProcess5"/>
    <dgm:cxn modelId="{D6A2FFA2-369A-4D51-B16C-E1E7DCA60392}" type="presParOf" srcId="{742C737B-19C0-4D3F-B09F-EA7E8977D76F}" destId="{E3CC01F6-8EF4-4686-9AD2-82AD534364D0}" srcOrd="3" destOrd="0" presId="urn:microsoft.com/office/officeart/2005/8/layout/vProcess5"/>
    <dgm:cxn modelId="{7F93BC29-494F-4F20-8CCC-87F5C7217DDB}" type="presParOf" srcId="{742C737B-19C0-4D3F-B09F-EA7E8977D76F}" destId="{B94EF801-919C-4052-81C9-B76A4DE2A6CE}" srcOrd="4" destOrd="0" presId="urn:microsoft.com/office/officeart/2005/8/layout/vProcess5"/>
    <dgm:cxn modelId="{59BF275B-06CA-4ABF-B01C-29CE5DAD2D80}" type="presParOf" srcId="{742C737B-19C0-4D3F-B09F-EA7E8977D76F}" destId="{51A73282-CC9A-4979-AA02-69AE3ED6679E}" srcOrd="5" destOrd="0" presId="urn:microsoft.com/office/officeart/2005/8/layout/vProcess5"/>
    <dgm:cxn modelId="{74E484A7-CACE-4590-A94C-B1279295B695}" type="presParOf" srcId="{742C737B-19C0-4D3F-B09F-EA7E8977D76F}" destId="{B45E8AC9-04E8-4115-8EDE-12ABB2777CBE}" srcOrd="6" destOrd="0" presId="urn:microsoft.com/office/officeart/2005/8/layout/vProcess5"/>
    <dgm:cxn modelId="{AFD77EB6-CCC2-464C-B189-14E720E0923E}" type="presParOf" srcId="{742C737B-19C0-4D3F-B09F-EA7E8977D76F}" destId="{0D1FE586-D161-4486-9596-AE7328D9FCF3}" srcOrd="7" destOrd="0" presId="urn:microsoft.com/office/officeart/2005/8/layout/vProcess5"/>
    <dgm:cxn modelId="{DDC0C988-9BD9-4A7B-A4E3-B15D7D322C8C}" type="presParOf" srcId="{742C737B-19C0-4D3F-B09F-EA7E8977D76F}" destId="{5B980B7E-77D3-40FF-896F-0FBB8C9013B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418DA-7200-4067-9EBF-A12BE93B5DDB}">
      <dsp:nvSpPr>
        <dsp:cNvPr id="0" name=""/>
        <dsp:cNvSpPr/>
      </dsp:nvSpPr>
      <dsp:spPr>
        <a:xfrm>
          <a:off x="756881" y="0"/>
          <a:ext cx="4432122" cy="111099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/>
            <a:t>工作目錄</a:t>
          </a:r>
          <a:r>
            <a:rPr lang="en-US" altLang="en-US" sz="2400" kern="1200" dirty="0" smtClean="0"/>
            <a:t>(Working directory)</a:t>
          </a:r>
          <a:endParaRPr lang="zh-TW" altLang="en-US" sz="2400" kern="1200" dirty="0" smtClean="0"/>
        </a:p>
      </dsp:txBody>
      <dsp:txXfrm>
        <a:off x="789421" y="32540"/>
        <a:ext cx="3521918" cy="1045916"/>
      </dsp:txXfrm>
    </dsp:sp>
    <dsp:sp modelId="{2D6235EF-26F4-4102-9637-6A8A17F76ACE}">
      <dsp:nvSpPr>
        <dsp:cNvPr id="0" name=""/>
        <dsp:cNvSpPr/>
      </dsp:nvSpPr>
      <dsp:spPr>
        <a:xfrm>
          <a:off x="1281518" y="1296162"/>
          <a:ext cx="4432122" cy="1110996"/>
        </a:xfrm>
        <a:prstGeom prst="roundRect">
          <a:avLst>
            <a:gd name="adj" fmla="val 10000"/>
          </a:avLst>
        </a:prstGeom>
        <a:solidFill>
          <a:schemeClr val="accent5">
            <a:hueOff val="-3161725"/>
            <a:satOff val="15415"/>
            <a:lumOff val="-173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/>
            <a:t>暫存區</a:t>
          </a:r>
          <a:r>
            <a:rPr lang="en-US" altLang="en-US" sz="2400" kern="1200" dirty="0" smtClean="0"/>
            <a:t>(Staging area)</a:t>
          </a:r>
          <a:endParaRPr lang="zh-TW" altLang="en-US" sz="2400" kern="1200" dirty="0" smtClean="0"/>
        </a:p>
      </dsp:txBody>
      <dsp:txXfrm>
        <a:off x="1314058" y="1328702"/>
        <a:ext cx="3437677" cy="1045915"/>
      </dsp:txXfrm>
    </dsp:sp>
    <dsp:sp modelId="{E3CC01F6-8EF4-4686-9AD2-82AD534364D0}">
      <dsp:nvSpPr>
        <dsp:cNvPr id="0" name=""/>
        <dsp:cNvSpPr/>
      </dsp:nvSpPr>
      <dsp:spPr>
        <a:xfrm>
          <a:off x="1806155" y="2592324"/>
          <a:ext cx="4432122" cy="1110996"/>
        </a:xfrm>
        <a:prstGeom prst="roundRect">
          <a:avLst>
            <a:gd name="adj" fmla="val 10000"/>
          </a:avLst>
        </a:prstGeom>
        <a:solidFill>
          <a:schemeClr val="accent5">
            <a:hueOff val="-6323450"/>
            <a:satOff val="30831"/>
            <a:lumOff val="-3470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/>
            <a:t>儲存庫</a:t>
          </a:r>
          <a:r>
            <a:rPr lang="en-US" altLang="en-US" sz="2400" kern="1200" dirty="0" smtClean="0"/>
            <a:t>(Repository)</a:t>
          </a:r>
          <a:endParaRPr lang="zh-TW" altLang="en-US" sz="2400" kern="1200" dirty="0" smtClean="0"/>
        </a:p>
      </dsp:txBody>
      <dsp:txXfrm>
        <a:off x="1838695" y="2624864"/>
        <a:ext cx="3437677" cy="1045916"/>
      </dsp:txXfrm>
    </dsp:sp>
    <dsp:sp modelId="{B94EF801-919C-4052-81C9-B76A4DE2A6CE}">
      <dsp:nvSpPr>
        <dsp:cNvPr id="0" name=""/>
        <dsp:cNvSpPr/>
      </dsp:nvSpPr>
      <dsp:spPr>
        <a:xfrm>
          <a:off x="4460688" y="842505"/>
          <a:ext cx="722147" cy="7221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3400" kern="1200"/>
        </a:p>
      </dsp:txBody>
      <dsp:txXfrm>
        <a:off x="4623171" y="842505"/>
        <a:ext cx="397181" cy="543416"/>
      </dsp:txXfrm>
    </dsp:sp>
    <dsp:sp modelId="{51A73282-CC9A-4979-AA02-69AE3ED6679E}">
      <dsp:nvSpPr>
        <dsp:cNvPr id="0" name=""/>
        <dsp:cNvSpPr/>
      </dsp:nvSpPr>
      <dsp:spPr>
        <a:xfrm>
          <a:off x="4985325" y="2131260"/>
          <a:ext cx="722147" cy="7221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755987"/>
            <a:satOff val="5072"/>
            <a:lumOff val="-50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3400" kern="1200"/>
        </a:p>
      </dsp:txBody>
      <dsp:txXfrm>
        <a:off x="5147808" y="2131260"/>
        <a:ext cx="397181" cy="543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fld id="{CB94133B-0157-42BE-A41E-C061A9F26E9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69464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en-US" altLang="zh-TW" dirty="0" smtClean="0"/>
              <a:t> → </a:t>
            </a:r>
            <a:r>
              <a:rPr lang="zh-TW" altLang="en-US" dirty="0" smtClean="0"/>
              <a:t>現今主流，用於開源與大型團隊。</a:t>
            </a:r>
          </a:p>
          <a:p>
            <a:r>
              <a:rPr lang="en-US" altLang="zh-TW" dirty="0" smtClean="0"/>
              <a:t>SVN → </a:t>
            </a:r>
            <a:r>
              <a:rPr lang="zh-TW" altLang="en-US" dirty="0" smtClean="0"/>
              <a:t>適合企業內部、權限明確的集中式管理。</a:t>
            </a:r>
          </a:p>
          <a:p>
            <a:r>
              <a:rPr lang="en-US" altLang="zh-TW" dirty="0" smtClean="0"/>
              <a:t>Mercurial → </a:t>
            </a:r>
            <a:r>
              <a:rPr lang="zh-TW" altLang="en-US" dirty="0" smtClean="0"/>
              <a:t>類 </a:t>
            </a:r>
            <a:r>
              <a:rPr lang="en-US" altLang="zh-TW" dirty="0" err="1" smtClean="0"/>
              <a:t>Git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的分散式架構，但設計更簡潔，社群規模較小。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4133B-0157-42BE-A41E-C061A9F26E94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458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2438402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</p:grpSp>
      <p:sp>
        <p:nvSpPr>
          <p:cNvPr id="327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327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3B4F251-739D-4430-A666-776F93F6BC6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02" y="116632"/>
            <a:ext cx="1722397" cy="171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26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F5B9-2752-49A5-B12F-BC9C5D29F8D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3480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AE139-B60F-4AC6-81F5-21CCBB6C27F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8504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49C22-5B98-4DB6-8165-4486986DEE6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14879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91D2-2327-4E56-9D9C-5A31BFA270A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7979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E8B86-DC69-4C39-B821-C00A8C109DE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11872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8E9B9-5565-44EE-90BF-A3C8573997A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1739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4A38B-0FCE-47FB-BDE7-7C6D2C2B446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312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B80D3-4CCC-443E-A648-ACEFFDB25D8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834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7902B-30F7-42AD-A789-9678FB6812E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41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ECA84-D6D8-4A58-B2BD-7D9B016973D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100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1DFA4-6AE5-457A-B29F-37E0455CBCE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843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2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1" y="1098552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9" y="1520827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6" y="1520827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2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2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4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hangingPunct="1">
              <a:defRPr/>
            </a:pPr>
            <a:endParaRPr lang="zh-TW" altLang="en-US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9" y="214314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17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12EC298B-9B2E-44CD-B2AA-4AFC2BFACD9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" y="87628"/>
            <a:ext cx="972590" cy="9651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  <p:sldLayoutId id="2147484261" r:id="rId2"/>
    <p:sldLayoutId id="2147484262" r:id="rId3"/>
    <p:sldLayoutId id="2147484263" r:id="rId4"/>
    <p:sldLayoutId id="2147484264" r:id="rId5"/>
    <p:sldLayoutId id="2147484265" r:id="rId6"/>
    <p:sldLayoutId id="2147484266" r:id="rId7"/>
    <p:sldLayoutId id="2147484267" r:id="rId8"/>
    <p:sldLayoutId id="2147484268" r:id="rId9"/>
    <p:sldLayoutId id="2147484269" r:id="rId10"/>
    <p:sldLayoutId id="2147484270" r:id="rId11"/>
    <p:sldLayoutId id="214748427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Python</a:t>
            </a:r>
            <a:r>
              <a:rPr lang="zh-TW" altLang="en-US" sz="4000" dirty="0"/>
              <a:t>程式設計與應用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l" eaLnBrk="1" hangingPunct="1"/>
            <a:r>
              <a:rPr lang="zh-TW" altLang="en-US" dirty="0" smtClean="0"/>
              <a:t>版本</a:t>
            </a:r>
            <a:r>
              <a:rPr lang="zh-TW" altLang="en-US" dirty="0"/>
              <a:t>管</a:t>
            </a:r>
            <a:r>
              <a:rPr lang="zh-TW" altLang="en-US" dirty="0" smtClean="0"/>
              <a:t>控：</a:t>
            </a:r>
            <a:r>
              <a:rPr lang="en-US" altLang="zh-TW" dirty="0" err="1" smtClean="0"/>
              <a:t>Git</a:t>
            </a:r>
            <a:r>
              <a:rPr lang="zh-TW" altLang="en-US" dirty="0" smtClean="0"/>
              <a:t>與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教學</a:t>
            </a:r>
            <a:endParaRPr lang="zh-TW" altLang="en-US" dirty="0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491882" y="5589588"/>
            <a:ext cx="547114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 err="1"/>
              <a:t>Tamkang</a:t>
            </a:r>
            <a:r>
              <a:rPr kumimoji="0" lang="en-US" altLang="zh-TW" sz="1600" dirty="0"/>
              <a:t> University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/>
              <a:t>Department of Computer Science and Information Engineering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/>
              <a:t>Chii-Jen Chen (</a:t>
            </a:r>
            <a:r>
              <a:rPr kumimoji="0" lang="zh-TW" altLang="en-US" sz="1600" dirty="0"/>
              <a:t>陳啓禎</a:t>
            </a:r>
            <a:r>
              <a:rPr kumimoji="0" lang="en-US" altLang="zh-TW" sz="1600" dirty="0"/>
              <a:t>)</a:t>
            </a:r>
            <a:endParaRPr kumimoji="0" lang="zh-TW" altLang="en-US" sz="1600" dirty="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smtClean="0"/>
              <a:t>cjchen@mail.tku.edu.tw</a:t>
            </a:r>
            <a:endParaRPr kumimoji="0" lang="en-US" altLang="zh-TW" sz="1600" i="1" dirty="0"/>
          </a:p>
        </p:txBody>
      </p:sp>
    </p:spTree>
    <p:extLst>
      <p:ext uri="{BB962C8B-B14F-4D97-AF65-F5344CB8AC3E}">
        <p14:creationId xmlns:p14="http://schemas.microsoft.com/office/powerpoint/2010/main" val="123830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>
                <a:solidFill>
                  <a:srgbClr val="3333CC"/>
                </a:solidFill>
              </a:rPr>
              <a:t>版本管</a:t>
            </a:r>
            <a:r>
              <a:rPr lang="zh-TW" altLang="en-US" dirty="0" smtClean="0">
                <a:solidFill>
                  <a:srgbClr val="3333CC"/>
                </a:solidFill>
              </a:rPr>
              <a:t>控</a:t>
            </a:r>
            <a:endParaRPr lang="en-US" altLang="zh-TW" dirty="0" smtClean="0">
              <a:solidFill>
                <a:srgbClr val="3333CC"/>
              </a:solidFill>
            </a:endParaRPr>
          </a:p>
          <a:p>
            <a:pPr eaLnBrk="1" hangingPunct="1"/>
            <a:r>
              <a:rPr lang="en-US" altLang="zh-TW" dirty="0" err="1" smtClean="0"/>
              <a:t>Git</a:t>
            </a:r>
            <a:r>
              <a:rPr lang="zh-TW" altLang="en-US" dirty="0" smtClean="0"/>
              <a:t>安裝與操作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GitHub</a:t>
            </a:r>
            <a:r>
              <a:rPr lang="zh-TW" altLang="en-US" dirty="0"/>
              <a:t>註冊與</a:t>
            </a:r>
            <a:r>
              <a:rPr lang="zh-TW" altLang="en-US" dirty="0" smtClean="0"/>
              <a:t>操作</a:t>
            </a:r>
            <a:endParaRPr lang="en-US" altLang="zh-TW" dirty="0" smtClean="0"/>
          </a:p>
          <a:p>
            <a:pPr eaLnBrk="1" hangingPunct="1"/>
            <a:r>
              <a:rPr lang="en-US" altLang="zh-TW" dirty="0"/>
              <a:t>GitHub</a:t>
            </a:r>
            <a:r>
              <a:rPr lang="zh-TW" altLang="en-US" dirty="0"/>
              <a:t>多人合作</a:t>
            </a:r>
            <a:endParaRPr lang="en-US" altLang="zh-TW" dirty="0"/>
          </a:p>
          <a:p>
            <a:pPr eaLnBrk="1" hangingPunct="1"/>
            <a:r>
              <a:rPr lang="zh-TW" altLang="en-US" dirty="0" smtClean="0"/>
              <a:t>實</a:t>
            </a:r>
            <a:r>
              <a:rPr lang="zh-TW" altLang="en-US" dirty="0"/>
              <a:t>作練習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074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版本</a:t>
            </a:r>
            <a:r>
              <a:rPr lang="zh-TW" altLang="en-US" dirty="0"/>
              <a:t>管</a:t>
            </a:r>
            <a:r>
              <a:rPr lang="zh-TW" altLang="en-US" dirty="0" smtClean="0"/>
              <a:t>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Version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管理</a:t>
            </a:r>
            <a:r>
              <a:rPr lang="zh-TW" altLang="en-US" dirty="0" smtClean="0"/>
              <a:t>程式、檔案的版本。</a:t>
            </a:r>
            <a:endParaRPr lang="en-US" altLang="zh-TW" dirty="0" smtClean="0"/>
          </a:p>
          <a:p>
            <a:r>
              <a:rPr lang="zh-TW" altLang="en-US" dirty="0" smtClean="0"/>
              <a:t>追蹤</a:t>
            </a:r>
            <a:r>
              <a:rPr lang="zh-TW" altLang="en-US" dirty="0"/>
              <a:t>修改</a:t>
            </a:r>
            <a:r>
              <a:rPr lang="zh-TW" altLang="en-US" dirty="0" smtClean="0"/>
              <a:t>歷史記錄。</a:t>
            </a:r>
            <a:endParaRPr lang="en-US" altLang="zh-TW" dirty="0" smtClean="0"/>
          </a:p>
          <a:p>
            <a:r>
              <a:rPr lang="zh-TW" altLang="en-US" dirty="0" smtClean="0"/>
              <a:t>多</a:t>
            </a:r>
            <a:r>
              <a:rPr lang="zh-TW" altLang="en-US" dirty="0"/>
              <a:t>人協作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59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常見工具：</a:t>
            </a:r>
            <a:r>
              <a:rPr lang="en-US" altLang="zh-TW" dirty="0" err="1"/>
              <a:t>Git</a:t>
            </a:r>
            <a:r>
              <a:rPr lang="zh-TW" altLang="en-US" dirty="0"/>
              <a:t>、</a:t>
            </a:r>
            <a:r>
              <a:rPr lang="en-US" altLang="zh-TW" dirty="0"/>
              <a:t>SVN</a:t>
            </a:r>
            <a:r>
              <a:rPr lang="zh-TW" altLang="en-US" dirty="0"/>
              <a:t>、</a:t>
            </a:r>
            <a:r>
              <a:rPr lang="en-US" altLang="zh-TW" dirty="0" smtClean="0"/>
              <a:t>Mercurial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graphicFrame>
        <p:nvGraphicFramePr>
          <p:cNvPr id="5" name="內容版面配置區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681968"/>
              </p:ext>
            </p:extLst>
          </p:nvPr>
        </p:nvGraphicFramePr>
        <p:xfrm>
          <a:off x="683568" y="2708920"/>
          <a:ext cx="7776864" cy="39387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427163951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374019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42906247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928568565"/>
                    </a:ext>
                  </a:extLst>
                </a:gridCol>
              </a:tblGrid>
              <a:tr h="2020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項目</a:t>
                      </a:r>
                    </a:p>
                  </a:txBody>
                  <a:tcPr marL="69044" marR="69044" marT="30707" marB="30707" anchor="ctr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Git</a:t>
                      </a:r>
                      <a:endParaRPr lang="en-US" sz="1400" dirty="0"/>
                    </a:p>
                  </a:txBody>
                  <a:tcPr marL="69044" marR="69044" marT="30707" marB="30707" anchor="ctr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SVN (Subversion)</a:t>
                      </a:r>
                      <a:endParaRPr lang="en-US" sz="1400" dirty="0"/>
                    </a:p>
                  </a:txBody>
                  <a:tcPr marL="69044" marR="69044" marT="30707" marB="30707" anchor="ctr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Mercurial</a:t>
                      </a:r>
                      <a:endParaRPr lang="en-US" sz="1400" dirty="0"/>
                    </a:p>
                  </a:txBody>
                  <a:tcPr marL="69044" marR="69044" marT="30707" marB="30707" anchor="ctr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414398"/>
                  </a:ext>
                </a:extLst>
              </a:tr>
              <a:tr h="3161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架構類型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分散式 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sz="1400" dirty="0"/>
                        <a:t>Distributed)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集中式 </a:t>
                      </a:r>
                      <a:r>
                        <a:rPr lang="en-US" altLang="zh-TW" sz="1400"/>
                        <a:t>(</a:t>
                      </a:r>
                      <a:r>
                        <a:rPr lang="en-US" sz="1400"/>
                        <a:t>Centralized)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分散式 </a:t>
                      </a:r>
                      <a:r>
                        <a:rPr lang="en-US" altLang="zh-TW" sz="1400"/>
                        <a:t>(</a:t>
                      </a:r>
                      <a:r>
                        <a:rPr lang="en-US" sz="1400"/>
                        <a:t>Distributed)</a:t>
                      </a:r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3058015127"/>
                  </a:ext>
                </a:extLst>
              </a:tr>
              <a:tr h="4516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主要概念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每個使用者都有完整版本庫副本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所有使用者共用中央版本庫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與</a:t>
                      </a:r>
                      <a:r>
                        <a:rPr lang="en-US" altLang="zh-TW" sz="1400" dirty="0" err="1" smtClean="0"/>
                        <a:t>Git</a:t>
                      </a:r>
                      <a:r>
                        <a:rPr lang="zh-TW" altLang="en-US" sz="1400" dirty="0" smtClean="0"/>
                        <a:t>類似</a:t>
                      </a:r>
                      <a:r>
                        <a:rPr lang="zh-TW" altLang="en-US" sz="1400" dirty="0"/>
                        <a:t>，每人都有完整版本庫</a:t>
                      </a:r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3350305595"/>
                  </a:ext>
                </a:extLst>
              </a:tr>
              <a:tr h="3161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速度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快，尤其在本地操作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慢，需與伺服器連線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快、操作流程</a:t>
                      </a:r>
                      <a:r>
                        <a:rPr lang="zh-TW" altLang="en-US" sz="1400" dirty="0" smtClean="0"/>
                        <a:t>接近</a:t>
                      </a:r>
                      <a:r>
                        <a:rPr lang="en-US" sz="1400" dirty="0" err="1" smtClean="0"/>
                        <a:t>Git</a:t>
                      </a:r>
                      <a:endParaRPr lang="en-US" sz="1400" dirty="0"/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3762997476"/>
                  </a:ext>
                </a:extLst>
              </a:tr>
              <a:tr h="35899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分支管理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極強，輕量、快速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分支較重、合併繁瑣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分支簡單但</a:t>
                      </a:r>
                      <a:r>
                        <a:rPr lang="zh-TW" altLang="en-US" sz="1400" dirty="0" smtClean="0"/>
                        <a:t>不如</a:t>
                      </a:r>
                      <a:r>
                        <a:rPr lang="en-US" altLang="zh-TW" sz="1400" dirty="0" err="1" smtClean="0"/>
                        <a:t>Git</a:t>
                      </a:r>
                      <a:r>
                        <a:rPr lang="zh-TW" altLang="en-US" sz="1400" dirty="0" smtClean="0"/>
                        <a:t>靈活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2565211457"/>
                  </a:ext>
                </a:extLst>
              </a:tr>
              <a:tr h="35899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儲存方式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Snapshot </a:t>
                      </a:r>
                    </a:p>
                    <a:p>
                      <a:pPr algn="ctr"/>
                      <a:r>
                        <a:rPr lang="en-US" sz="1400" dirty="0" smtClean="0"/>
                        <a:t>(</a:t>
                      </a:r>
                      <a:r>
                        <a:rPr lang="zh-TW" altLang="en-US" sz="1400" dirty="0" smtClean="0"/>
                        <a:t>每次</a:t>
                      </a:r>
                      <a:r>
                        <a:rPr lang="zh-TW" altLang="en-US" sz="1400" dirty="0"/>
                        <a:t>提交是完整</a:t>
                      </a:r>
                      <a:r>
                        <a:rPr lang="zh-TW" altLang="en-US" sz="1400" dirty="0" smtClean="0"/>
                        <a:t>快照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差異</a:t>
                      </a:r>
                      <a:r>
                        <a:rPr lang="zh-TW" altLang="en-US" sz="1400" dirty="0" smtClean="0"/>
                        <a:t>儲存</a:t>
                      </a:r>
                      <a:endParaRPr lang="en-US" altLang="zh-TW" sz="1400" smtClean="0"/>
                    </a:p>
                    <a:p>
                      <a:pPr algn="ctr"/>
                      <a:r>
                        <a:rPr lang="en-US" altLang="zh-TW" sz="1400" smtClean="0"/>
                        <a:t>(</a:t>
                      </a:r>
                      <a:r>
                        <a:rPr lang="zh-TW" altLang="en-US" sz="1400" dirty="0" smtClean="0"/>
                        <a:t>只</a:t>
                      </a:r>
                      <a:r>
                        <a:rPr lang="zh-TW" altLang="en-US" sz="1400" dirty="0"/>
                        <a:t>存變動</a:t>
                      </a:r>
                      <a:r>
                        <a:rPr lang="zh-TW" altLang="en-US" sz="1400" dirty="0" smtClean="0"/>
                        <a:t>部分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類似</a:t>
                      </a:r>
                      <a:r>
                        <a:rPr lang="en-US" altLang="zh-TW" sz="1400" dirty="0" err="1" smtClean="0"/>
                        <a:t>Git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2944981691"/>
                  </a:ext>
                </a:extLst>
              </a:tr>
              <a:tr h="35899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適用規模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適合大型、開源、多人協作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適合中小團隊、企業內部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適合中型專案與研究團隊</a:t>
                      </a:r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1304946727"/>
                  </a:ext>
                </a:extLst>
              </a:tr>
              <a:tr h="35899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代表平台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GitHub、GitLab、Bitbucket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Assembla、CollabNet</a:t>
                      </a:r>
                      <a:endParaRPr lang="en-US" sz="1400" dirty="0"/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Bitbucket</a:t>
                      </a:r>
                      <a:r>
                        <a:rPr lang="en-US" sz="1400" dirty="0" smtClean="0"/>
                        <a:t> (</a:t>
                      </a:r>
                      <a:r>
                        <a:rPr lang="zh-TW" altLang="en-US" sz="1400" dirty="0" smtClean="0"/>
                        <a:t>早期支援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1431587310"/>
                  </a:ext>
                </a:extLst>
              </a:tr>
              <a:tr h="3161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學習難度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稍</a:t>
                      </a:r>
                      <a:r>
                        <a:rPr lang="zh-TW" altLang="en-US" sz="1400" dirty="0" smtClean="0"/>
                        <a:t>高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命令</a:t>
                      </a:r>
                      <a:r>
                        <a:rPr lang="zh-TW" altLang="en-US" sz="1400" dirty="0"/>
                        <a:t>多且</a:t>
                      </a:r>
                      <a:r>
                        <a:rPr lang="zh-TW" altLang="en-US" sz="1400" dirty="0" smtClean="0"/>
                        <a:t>靈活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較低，操作直覺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中等，語法較友好</a:t>
                      </a:r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3104919093"/>
                  </a:ext>
                </a:extLst>
              </a:tr>
              <a:tr h="2020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/>
                        <a:t>開發語言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</a:t>
                      </a:r>
                    </a:p>
                  </a:txBody>
                  <a:tcPr marL="69044" marR="69044" marT="30707" marB="3070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Python</a:t>
                      </a:r>
                    </a:p>
                  </a:txBody>
                  <a:tcPr marL="69044" marR="69044" marT="30707" marB="30707" anchor="ctr"/>
                </a:tc>
                <a:extLst>
                  <a:ext uri="{0D108BD9-81ED-4DB2-BD59-A6C34878D82A}">
                    <a16:rowId xmlns:a16="http://schemas.microsoft.com/office/drawing/2014/main" val="407494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06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/>
              <a:t>版本管控</a:t>
            </a:r>
            <a:endParaRPr lang="en-US" altLang="zh-TW" dirty="0"/>
          </a:p>
          <a:p>
            <a:pPr eaLnBrk="1" hangingPunct="1"/>
            <a:r>
              <a:rPr lang="en-US" altLang="zh-TW" dirty="0" err="1">
                <a:solidFill>
                  <a:schemeClr val="folHlink"/>
                </a:solidFill>
              </a:rPr>
              <a:t>Git</a:t>
            </a:r>
            <a:r>
              <a:rPr lang="zh-TW" altLang="en-US" dirty="0">
                <a:solidFill>
                  <a:schemeClr val="folHlink"/>
                </a:solidFill>
              </a:rPr>
              <a:t>安裝與操作</a:t>
            </a:r>
            <a:endParaRPr lang="en-US" altLang="zh-TW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TW" dirty="0" smtClean="0"/>
              <a:t>GitHub</a:t>
            </a:r>
            <a:r>
              <a:rPr lang="zh-TW" altLang="en-US" dirty="0"/>
              <a:t>註冊與</a:t>
            </a:r>
            <a:r>
              <a:rPr lang="zh-TW" altLang="en-US" dirty="0" smtClean="0"/>
              <a:t>操作</a:t>
            </a:r>
            <a:endParaRPr lang="en-US" altLang="zh-TW" dirty="0" smtClean="0"/>
          </a:p>
          <a:p>
            <a:pPr eaLnBrk="1" hangingPunct="1"/>
            <a:r>
              <a:rPr lang="en-US" altLang="zh-TW" dirty="0"/>
              <a:t>GitHub</a:t>
            </a:r>
            <a:r>
              <a:rPr lang="zh-TW" altLang="en-US" dirty="0"/>
              <a:t>多人合作</a:t>
            </a:r>
            <a:endParaRPr lang="en-US" altLang="zh-TW" dirty="0"/>
          </a:p>
          <a:p>
            <a:pPr eaLnBrk="1" hangingPunct="1"/>
            <a:r>
              <a:rPr lang="zh-TW" altLang="en-US" dirty="0" smtClean="0"/>
              <a:t>實</a:t>
            </a:r>
            <a:r>
              <a:rPr lang="zh-TW" altLang="en-US" dirty="0"/>
              <a:t>作練習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021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zh-TW" altLang="en-US" dirty="0" smtClean="0"/>
              <a:t>安裝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官網：</a:t>
            </a:r>
            <a:r>
              <a:rPr lang="en-US" altLang="zh-TW" dirty="0" smtClean="0"/>
              <a:t>https</a:t>
            </a:r>
            <a:r>
              <a:rPr lang="en-US" altLang="zh-TW" dirty="0"/>
              <a:t>://git-scm.com/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636912"/>
            <a:ext cx="4852035" cy="393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zh-TW" altLang="en-US" dirty="0"/>
              <a:t>指令操作</a:t>
            </a:r>
            <a:r>
              <a:rPr lang="zh-TW" altLang="en-US" dirty="0" smtClean="0"/>
              <a:t>介面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err="1" smtClean="0"/>
              <a:t>Git</a:t>
            </a:r>
            <a:r>
              <a:rPr lang="en-US" altLang="zh-TW" sz="2800" dirty="0" smtClean="0"/>
              <a:t> Bash</a:t>
            </a:r>
          </a:p>
          <a:p>
            <a:pPr lvl="1"/>
            <a:r>
              <a:rPr lang="zh-TW" altLang="en-US" sz="2400" dirty="0" smtClean="0"/>
              <a:t>在</a:t>
            </a:r>
            <a:r>
              <a:rPr lang="en-US" altLang="zh-TW" sz="2400" dirty="0" smtClean="0"/>
              <a:t>Windows</a:t>
            </a:r>
            <a:r>
              <a:rPr lang="zh-TW" altLang="en-US" sz="2400" dirty="0" smtClean="0"/>
              <a:t>系統</a:t>
            </a:r>
            <a:r>
              <a:rPr lang="zh-TW" altLang="en-US" sz="2400" dirty="0"/>
              <a:t>上提供</a:t>
            </a:r>
            <a:r>
              <a:rPr lang="zh-TW" altLang="en-US" sz="2400" dirty="0" smtClean="0"/>
              <a:t>類似於</a:t>
            </a:r>
            <a:r>
              <a:rPr lang="en-US" altLang="zh-TW" sz="2400" dirty="0" smtClean="0"/>
              <a:t>Unix/Linux</a:t>
            </a:r>
            <a:r>
              <a:rPr lang="zh-TW" altLang="en-US" sz="2400" dirty="0" smtClean="0"/>
              <a:t>終端機</a:t>
            </a:r>
            <a:r>
              <a:rPr lang="zh-TW" altLang="en-US" sz="2400" dirty="0"/>
              <a:t>環境</a:t>
            </a:r>
            <a:r>
              <a:rPr lang="zh-TW" altLang="en-US" sz="2400" dirty="0" smtClean="0"/>
              <a:t>的指令</a:t>
            </a:r>
            <a:r>
              <a:rPr lang="zh-TW" altLang="en-US" sz="2400" dirty="0"/>
              <a:t>行</a:t>
            </a:r>
            <a:r>
              <a:rPr lang="zh-TW" altLang="en-US" sz="2400" dirty="0" smtClean="0"/>
              <a:t>工具。</a:t>
            </a:r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501008"/>
            <a:ext cx="5474018" cy="310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zh-TW" altLang="en-US" dirty="0" smtClean="0"/>
              <a:t> </a:t>
            </a:r>
            <a:r>
              <a:rPr lang="en-US" altLang="zh-TW" dirty="0" smtClean="0"/>
              <a:t>Bash</a:t>
            </a:r>
            <a:r>
              <a:rPr lang="zh-TW" altLang="en-US" dirty="0" smtClean="0"/>
              <a:t>基本指令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dirty="0" smtClean="0"/>
              <a:t>查詢</a:t>
            </a:r>
            <a:r>
              <a:rPr lang="en-US" altLang="zh-TW" dirty="0" err="1" smtClean="0"/>
              <a:t>Git</a:t>
            </a:r>
            <a:r>
              <a:rPr lang="zh-TW" altLang="en-US" dirty="0" smtClean="0"/>
              <a:t>版本：</a:t>
            </a:r>
            <a:endParaRPr lang="en-US" altLang="zh-TW" dirty="0" smtClean="0"/>
          </a:p>
          <a:p>
            <a:pPr lvl="1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--version 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 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-v</a:t>
            </a:r>
            <a:r>
              <a:rPr lang="en-US" altLang="zh-TW" dirty="0" smtClean="0"/>
              <a:t>)</a:t>
            </a:r>
          </a:p>
          <a:p>
            <a:endParaRPr lang="en-US" altLang="zh-TW" dirty="0" smtClean="0">
              <a:solidFill>
                <a:srgbClr val="00B050"/>
              </a:solidFill>
            </a:endParaRPr>
          </a:p>
          <a:p>
            <a:r>
              <a:rPr lang="en-US" altLang="zh-TW" dirty="0" err="1" smtClean="0"/>
              <a:t>Git</a:t>
            </a:r>
            <a:r>
              <a:rPr lang="zh-TW" altLang="en-US" dirty="0" smtClean="0"/>
              <a:t> </a:t>
            </a:r>
            <a:r>
              <a:rPr lang="en-US" altLang="zh-TW" dirty="0" smtClean="0"/>
              <a:t>help</a:t>
            </a:r>
            <a:r>
              <a:rPr lang="zh-TW" altLang="en-US" dirty="0" smtClean="0"/>
              <a:t>：</a:t>
            </a:r>
            <a:endParaRPr lang="en-US" altLang="zh-TW" dirty="0"/>
          </a:p>
          <a:p>
            <a:pPr lvl="1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--help 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 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-h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清除指令：</a:t>
            </a:r>
            <a:endParaRPr lang="en-US" altLang="zh-TW" dirty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clear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Ctrl+L</a:t>
            </a:r>
            <a:r>
              <a:rPr lang="zh-TW" altLang="en-US" dirty="0" smtClean="0"/>
              <a:t>快捷鍵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指令輸入記錄：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history</a:t>
            </a:r>
          </a:p>
          <a:p>
            <a:pPr lvl="1"/>
            <a:r>
              <a:rPr lang="zh-TW" altLang="en-US" dirty="0" smtClean="0"/>
              <a:t>清空所有：</a:t>
            </a:r>
            <a:r>
              <a:rPr lang="en-US" altLang="zh-TW" dirty="0" smtClean="0">
                <a:solidFill>
                  <a:srgbClr val="00B050"/>
                </a:solidFill>
              </a:rPr>
              <a:t>history -c</a:t>
            </a:r>
          </a:p>
          <a:p>
            <a:pPr lvl="1"/>
            <a:r>
              <a:rPr lang="zh-TW" altLang="en-US" dirty="0" smtClean="0"/>
              <a:t>清空某行：</a:t>
            </a:r>
            <a:r>
              <a:rPr lang="en-US" altLang="zh-TW" dirty="0" smtClean="0">
                <a:solidFill>
                  <a:srgbClr val="00B050"/>
                </a:solidFill>
              </a:rPr>
              <a:t>history -d</a:t>
            </a:r>
            <a:endParaRPr lang="en-US" altLang="zh-TW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592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檔案與路徑：</a:t>
            </a:r>
            <a:endParaRPr lang="en-US" altLang="zh-TW" dirty="0" smtClean="0"/>
          </a:p>
          <a:p>
            <a:pPr lvl="1"/>
            <a:r>
              <a:rPr lang="zh-TW" altLang="en-US" dirty="0"/>
              <a:t>前往資料夾</a:t>
            </a:r>
            <a:r>
              <a:rPr lang="zh-TW" altLang="en-US" dirty="0" smtClean="0"/>
              <a:t>路徑：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00B050"/>
                </a:solidFill>
              </a:rPr>
              <a:t>cd [</a:t>
            </a:r>
            <a:r>
              <a:rPr lang="zh-TW" altLang="en-US" dirty="0" smtClean="0">
                <a:solidFill>
                  <a:srgbClr val="00B050"/>
                </a:solidFill>
              </a:rPr>
              <a:t>相對路徑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zh-TW" altLang="en-US" dirty="0" smtClean="0"/>
              <a:t>取得</a:t>
            </a:r>
            <a:r>
              <a:rPr lang="zh-TW" altLang="en-US" dirty="0"/>
              <a:t>目前所在</a:t>
            </a:r>
            <a:r>
              <a:rPr lang="zh-TW" altLang="en-US" dirty="0" smtClean="0"/>
              <a:t>位置：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00B050"/>
                </a:solidFill>
              </a:rPr>
              <a:t>cd</a:t>
            </a:r>
            <a:endParaRPr lang="en-US" altLang="zh-TW" dirty="0">
              <a:solidFill>
                <a:srgbClr val="00B050"/>
              </a:solidFill>
            </a:endParaRPr>
          </a:p>
          <a:p>
            <a:pPr lvl="1"/>
            <a:r>
              <a:rPr lang="zh-TW" altLang="en-US" dirty="0" smtClean="0"/>
              <a:t>顯示資料夾裡的內容：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00B050"/>
                </a:solidFill>
              </a:rPr>
              <a:t>ls</a:t>
            </a:r>
            <a:r>
              <a:rPr lang="en-US" altLang="zh-TW" dirty="0" smtClean="0"/>
              <a:t> </a:t>
            </a:r>
            <a:r>
              <a:rPr lang="zh-TW" altLang="en-US" dirty="0" smtClean="0"/>
              <a:t>或 </a:t>
            </a:r>
            <a:r>
              <a:rPr lang="en-US" altLang="zh-TW" dirty="0" err="1" smtClean="0">
                <a:solidFill>
                  <a:srgbClr val="00B050"/>
                </a:solidFill>
              </a:rPr>
              <a:t>dir</a:t>
            </a:r>
            <a:endParaRPr lang="en-US" altLang="zh-TW" dirty="0" smtClean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42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zh-TW" altLang="en-US" dirty="0"/>
              <a:t>新增資料夾：</a:t>
            </a:r>
            <a:endParaRPr lang="en-US" altLang="zh-TW" dirty="0"/>
          </a:p>
          <a:p>
            <a:pPr lvl="2"/>
            <a:r>
              <a:rPr lang="en-US" altLang="zh-TW" dirty="0" err="1">
                <a:solidFill>
                  <a:srgbClr val="00B050"/>
                </a:solidFill>
              </a:rPr>
              <a:t>mkdir</a:t>
            </a:r>
            <a:r>
              <a:rPr lang="en-US" altLang="zh-TW" dirty="0">
                <a:solidFill>
                  <a:srgbClr val="00B050"/>
                </a:solidFill>
              </a:rPr>
              <a:t> [</a:t>
            </a:r>
            <a:r>
              <a:rPr lang="zh-TW" altLang="en-US" dirty="0">
                <a:solidFill>
                  <a:srgbClr val="00B050"/>
                </a:solidFill>
              </a:rPr>
              <a:t>資料夾名稱</a:t>
            </a:r>
            <a:r>
              <a:rPr lang="en-US" altLang="zh-TW" dirty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zh-TW" altLang="en-US" dirty="0"/>
              <a:t>開新檔案：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rgbClr val="00B050"/>
                </a:solidFill>
              </a:rPr>
              <a:t>touch [</a:t>
            </a:r>
            <a:r>
              <a:rPr lang="zh-TW" altLang="en-US" dirty="0">
                <a:solidFill>
                  <a:srgbClr val="00B050"/>
                </a:solidFill>
              </a:rPr>
              <a:t>檔案名稱</a:t>
            </a:r>
            <a:r>
              <a:rPr lang="en-US" altLang="zh-TW" dirty="0">
                <a:solidFill>
                  <a:srgbClr val="00B050"/>
                </a:solidFill>
              </a:rPr>
              <a:t>]</a:t>
            </a:r>
            <a:endParaRPr lang="zh-TW" altLang="en-US" dirty="0">
              <a:solidFill>
                <a:srgbClr val="00B050"/>
              </a:solidFill>
            </a:endParaRPr>
          </a:p>
          <a:p>
            <a:pPr lvl="1"/>
            <a:r>
              <a:rPr lang="zh-TW" altLang="en-US" dirty="0" smtClean="0"/>
              <a:t>顯示檔案內容：</a:t>
            </a:r>
            <a:endParaRPr lang="en-US" altLang="zh-TW" dirty="0"/>
          </a:p>
          <a:p>
            <a:pPr lvl="2"/>
            <a:r>
              <a:rPr lang="en-US" altLang="zh-TW" dirty="0" smtClean="0">
                <a:solidFill>
                  <a:srgbClr val="00B050"/>
                </a:solidFill>
              </a:rPr>
              <a:t>cat </a:t>
            </a:r>
            <a:r>
              <a:rPr lang="en-US" altLang="zh-TW" dirty="0">
                <a:solidFill>
                  <a:srgbClr val="00B050"/>
                </a:solidFill>
              </a:rPr>
              <a:t>[</a:t>
            </a:r>
            <a:r>
              <a:rPr lang="zh-TW" altLang="en-US" dirty="0">
                <a:solidFill>
                  <a:srgbClr val="00B050"/>
                </a:solidFill>
              </a:rPr>
              <a:t>檔案名稱</a:t>
            </a:r>
            <a:r>
              <a:rPr lang="en-US" altLang="zh-TW" dirty="0">
                <a:solidFill>
                  <a:srgbClr val="00B050"/>
                </a:solidFill>
              </a:rPr>
              <a:t>]</a:t>
            </a:r>
            <a:endParaRPr lang="zh-TW" altLang="en-US" dirty="0">
              <a:solidFill>
                <a:srgbClr val="00B050"/>
              </a:solidFill>
            </a:endParaRPr>
          </a:p>
          <a:p>
            <a:pPr lvl="1"/>
            <a:r>
              <a:rPr lang="zh-TW" altLang="en-US" dirty="0" smtClean="0"/>
              <a:t>複製檔案：</a:t>
            </a:r>
            <a:endParaRPr lang="en-US" altLang="zh-TW" dirty="0" smtClean="0"/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cp</a:t>
            </a:r>
            <a:r>
              <a:rPr lang="en-US" altLang="zh-TW" dirty="0" smtClean="0">
                <a:solidFill>
                  <a:srgbClr val="00B050"/>
                </a:solidFill>
              </a:rPr>
              <a:t> [</a:t>
            </a:r>
            <a:r>
              <a:rPr lang="zh-TW" altLang="en-US" dirty="0">
                <a:solidFill>
                  <a:srgbClr val="00B050"/>
                </a:solidFill>
              </a:rPr>
              <a:t>來源</a:t>
            </a:r>
            <a:r>
              <a:rPr lang="zh-TW" altLang="en-US" dirty="0" smtClean="0">
                <a:solidFill>
                  <a:srgbClr val="00B050"/>
                </a:solidFill>
              </a:rPr>
              <a:t>檔案</a:t>
            </a:r>
            <a:r>
              <a:rPr lang="en-US" altLang="zh-TW" dirty="0" smtClean="0">
                <a:solidFill>
                  <a:srgbClr val="00B050"/>
                </a:solidFill>
              </a:rPr>
              <a:t>] [</a:t>
            </a:r>
            <a:r>
              <a:rPr lang="zh-TW" altLang="en-US" dirty="0" smtClean="0">
                <a:solidFill>
                  <a:srgbClr val="00B050"/>
                </a:solidFill>
              </a:rPr>
              <a:t>目標</a:t>
            </a:r>
            <a:r>
              <a:rPr lang="zh-TW" altLang="en-US" dirty="0">
                <a:solidFill>
                  <a:srgbClr val="00B050"/>
                </a:solidFill>
              </a:rPr>
              <a:t>檔案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zh-TW" altLang="en-US" dirty="0" smtClean="0"/>
              <a:t>移動檔案：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00B050"/>
                </a:solidFill>
              </a:rPr>
              <a:t>mv [</a:t>
            </a:r>
            <a:r>
              <a:rPr lang="zh-TW" altLang="en-US" dirty="0" smtClean="0">
                <a:solidFill>
                  <a:srgbClr val="00B050"/>
                </a:solidFill>
              </a:rPr>
              <a:t>檔案名稱</a:t>
            </a:r>
            <a:r>
              <a:rPr lang="en-US" altLang="zh-TW" dirty="0" smtClean="0">
                <a:solidFill>
                  <a:srgbClr val="00B050"/>
                </a:solidFill>
              </a:rPr>
              <a:t>] [</a:t>
            </a:r>
            <a:r>
              <a:rPr lang="zh-TW" altLang="en-US" dirty="0" smtClean="0">
                <a:solidFill>
                  <a:srgbClr val="00B050"/>
                </a:solidFill>
              </a:rPr>
              <a:t>目標</a:t>
            </a:r>
            <a:r>
              <a:rPr lang="zh-TW" altLang="en-US" dirty="0">
                <a:solidFill>
                  <a:srgbClr val="00B050"/>
                </a:solidFill>
              </a:rPr>
              <a:t>資料夾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</a:p>
          <a:p>
            <a:pPr lvl="2"/>
            <a:r>
              <a:rPr lang="zh-TW" altLang="en-US" dirty="0" smtClean="0"/>
              <a:t>重新命名：</a:t>
            </a:r>
            <a:r>
              <a:rPr lang="en-US" altLang="zh-TW" dirty="0" smtClean="0">
                <a:solidFill>
                  <a:srgbClr val="00B050"/>
                </a:solidFill>
              </a:rPr>
              <a:t>mv [</a:t>
            </a:r>
            <a:r>
              <a:rPr lang="zh-TW" altLang="en-US" dirty="0" smtClean="0">
                <a:solidFill>
                  <a:srgbClr val="00B050"/>
                </a:solidFill>
              </a:rPr>
              <a:t>舊檔案名稱</a:t>
            </a:r>
            <a:r>
              <a:rPr lang="en-US" altLang="zh-TW" dirty="0" smtClean="0">
                <a:solidFill>
                  <a:srgbClr val="00B050"/>
                </a:solidFill>
              </a:rPr>
              <a:t>] [</a:t>
            </a:r>
            <a:r>
              <a:rPr lang="zh-TW" altLang="en-US" dirty="0" smtClean="0">
                <a:solidFill>
                  <a:srgbClr val="00B050"/>
                </a:solidFill>
              </a:rPr>
              <a:t>新檔案名稱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zh-TW" altLang="en-US" dirty="0" smtClean="0"/>
              <a:t>刪除檔案：</a:t>
            </a:r>
            <a:endParaRPr lang="en-US" altLang="zh-TW" dirty="0" smtClean="0"/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rm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[</a:t>
            </a:r>
            <a:r>
              <a:rPr lang="zh-TW" altLang="en-US" dirty="0">
                <a:solidFill>
                  <a:srgbClr val="00B050"/>
                </a:solidFill>
              </a:rPr>
              <a:t>檔案名稱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</a:p>
          <a:p>
            <a:pPr lvl="2"/>
            <a:r>
              <a:rPr lang="zh-TW" altLang="en-US" dirty="0"/>
              <a:t>刪除</a:t>
            </a:r>
            <a:r>
              <a:rPr lang="zh-TW" altLang="en-US" dirty="0" smtClean="0"/>
              <a:t>子目錄：</a:t>
            </a:r>
            <a:r>
              <a:rPr lang="en-US" altLang="zh-TW" dirty="0" err="1" smtClean="0">
                <a:solidFill>
                  <a:srgbClr val="00B050"/>
                </a:solidFill>
              </a:rPr>
              <a:t>rm</a:t>
            </a:r>
            <a:r>
              <a:rPr lang="en-US" altLang="zh-TW" dirty="0" smtClean="0">
                <a:solidFill>
                  <a:srgbClr val="00B050"/>
                </a:solidFill>
              </a:rPr>
              <a:t> -r [</a:t>
            </a:r>
            <a:r>
              <a:rPr lang="zh-TW" altLang="en-US" dirty="0">
                <a:solidFill>
                  <a:srgbClr val="00B050"/>
                </a:solidFill>
              </a:rPr>
              <a:t>子目錄</a:t>
            </a:r>
            <a:r>
              <a:rPr lang="en-US" altLang="zh-TW" dirty="0" smtClean="0">
                <a:solidFill>
                  <a:srgbClr val="00B050"/>
                </a:solidFill>
              </a:rPr>
              <a:t>]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489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zh-TW" altLang="en-US" dirty="0" smtClean="0"/>
              <a:t>編輯器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Vim</a:t>
            </a:r>
          </a:p>
          <a:p>
            <a:pPr lvl="1"/>
            <a:r>
              <a:rPr lang="en-US" altLang="zh-TW" sz="2400" dirty="0" smtClean="0">
                <a:solidFill>
                  <a:srgbClr val="00B050"/>
                </a:solidFill>
              </a:rPr>
              <a:t>vim</a:t>
            </a:r>
          </a:p>
          <a:p>
            <a:pPr lvl="1"/>
            <a:r>
              <a:rPr lang="en-US" altLang="zh-TW" sz="2400" dirty="0" smtClean="0">
                <a:solidFill>
                  <a:srgbClr val="00B050"/>
                </a:solidFill>
              </a:rPr>
              <a:t>vim [</a:t>
            </a:r>
            <a:r>
              <a:rPr lang="zh-TW" altLang="en-US" sz="2400" dirty="0" smtClean="0">
                <a:solidFill>
                  <a:srgbClr val="00B050"/>
                </a:solidFill>
              </a:rPr>
              <a:t>檔名</a:t>
            </a:r>
            <a:r>
              <a:rPr lang="en-US" altLang="zh-TW" sz="2400" dirty="0" smtClean="0">
                <a:solidFill>
                  <a:srgbClr val="00B050"/>
                </a:solidFill>
              </a:rPr>
              <a:t>]</a:t>
            </a:r>
          </a:p>
          <a:p>
            <a:r>
              <a:rPr lang="en-US" altLang="zh-TW" sz="2800" dirty="0" smtClean="0"/>
              <a:t>Nano</a:t>
            </a:r>
          </a:p>
          <a:p>
            <a:pPr lvl="1"/>
            <a:r>
              <a:rPr lang="en-US" altLang="zh-TW" sz="2400" dirty="0" err="1" smtClean="0">
                <a:solidFill>
                  <a:srgbClr val="00B050"/>
                </a:solidFill>
              </a:rPr>
              <a:t>nano</a:t>
            </a:r>
            <a:endParaRPr lang="en-US" altLang="zh-TW" sz="2400" dirty="0" smtClean="0">
              <a:solidFill>
                <a:srgbClr val="00B050"/>
              </a:solidFill>
            </a:endParaRPr>
          </a:p>
          <a:p>
            <a:pPr lvl="1"/>
            <a:r>
              <a:rPr lang="en-US" altLang="zh-TW" sz="2400" dirty="0" err="1" smtClean="0">
                <a:solidFill>
                  <a:srgbClr val="00B050"/>
                </a:solidFill>
              </a:rPr>
              <a:t>nano</a:t>
            </a:r>
            <a:r>
              <a:rPr lang="en-US" altLang="zh-TW" sz="2400" dirty="0">
                <a:solidFill>
                  <a:srgbClr val="00B050"/>
                </a:solidFill>
              </a:rPr>
              <a:t> </a:t>
            </a:r>
            <a:r>
              <a:rPr lang="en-US" altLang="zh-TW" sz="2400" dirty="0" smtClean="0">
                <a:solidFill>
                  <a:srgbClr val="00B050"/>
                </a:solidFill>
              </a:rPr>
              <a:t>[</a:t>
            </a:r>
            <a:r>
              <a:rPr lang="zh-TW" altLang="en-US" sz="2400" dirty="0" smtClean="0">
                <a:solidFill>
                  <a:srgbClr val="00B050"/>
                </a:solidFill>
              </a:rPr>
              <a:t>檔名</a:t>
            </a:r>
            <a:r>
              <a:rPr lang="en-US" altLang="zh-TW" sz="2400" dirty="0" smtClean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en-US" altLang="zh-TW" sz="2400" dirty="0" err="1" smtClean="0">
                <a:solidFill>
                  <a:srgbClr val="00B050"/>
                </a:solidFill>
              </a:rPr>
              <a:t>nano</a:t>
            </a:r>
            <a:r>
              <a:rPr lang="en-US" altLang="zh-TW" sz="2400" dirty="0" smtClean="0">
                <a:solidFill>
                  <a:srgbClr val="00B050"/>
                </a:solidFill>
              </a:rPr>
              <a:t> -l [</a:t>
            </a:r>
            <a:r>
              <a:rPr lang="zh-TW" altLang="en-US" sz="2400" dirty="0" smtClean="0">
                <a:solidFill>
                  <a:srgbClr val="00B050"/>
                </a:solidFill>
              </a:rPr>
              <a:t>檔名</a:t>
            </a:r>
            <a:r>
              <a:rPr lang="en-US" altLang="zh-TW" sz="2400" dirty="0" smtClean="0">
                <a:solidFill>
                  <a:srgbClr val="00B050"/>
                </a:solidFill>
              </a:rPr>
              <a:t>]</a:t>
            </a:r>
          </a:p>
          <a:p>
            <a:pPr lvl="2"/>
            <a:r>
              <a:rPr lang="zh-TW" altLang="en-US" sz="2000" dirty="0" smtClean="0"/>
              <a:t>編輯時顯示行號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836712"/>
            <a:ext cx="4692015" cy="266319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728502"/>
            <a:ext cx="4692015" cy="266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06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Vim</a:t>
            </a:r>
            <a:r>
              <a:rPr lang="zh-TW" altLang="en-US" dirty="0" smtClean="0"/>
              <a:t>簡易操作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分為：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一般</a:t>
            </a:r>
            <a:r>
              <a:rPr lang="zh-TW" altLang="en-US" dirty="0"/>
              <a:t>模式</a:t>
            </a:r>
            <a:r>
              <a:rPr lang="en-US" altLang="zh-TW" dirty="0"/>
              <a:t>(Normal-mode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：預設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插入</a:t>
            </a:r>
            <a:r>
              <a:rPr lang="zh-TW" altLang="en-US" dirty="0"/>
              <a:t>模式</a:t>
            </a:r>
            <a:r>
              <a:rPr lang="en-US" altLang="zh-TW" dirty="0"/>
              <a:t>(Insert-mode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指令</a:t>
            </a:r>
            <a:r>
              <a:rPr lang="zh-TW" altLang="en-US" dirty="0"/>
              <a:t>模式</a:t>
            </a:r>
            <a:r>
              <a:rPr lang="en-US" altLang="zh-TW" dirty="0"/>
              <a:t>(Command-mode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選取</a:t>
            </a:r>
            <a:r>
              <a:rPr lang="zh-TW" altLang="en-US" dirty="0"/>
              <a:t>模式</a:t>
            </a:r>
            <a:r>
              <a:rPr lang="en-US" altLang="zh-TW" dirty="0"/>
              <a:t>(Visual-mode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進入插入</a:t>
            </a:r>
            <a:r>
              <a:rPr lang="en-US" altLang="zh-TW" dirty="0" smtClean="0"/>
              <a:t>(</a:t>
            </a:r>
            <a:r>
              <a:rPr lang="zh-TW" altLang="en-US" dirty="0" smtClean="0"/>
              <a:t>編輯</a:t>
            </a:r>
            <a:r>
              <a:rPr lang="en-US" altLang="zh-TW" dirty="0" smtClean="0"/>
              <a:t>)</a:t>
            </a:r>
            <a:r>
              <a:rPr lang="zh-TW" altLang="en-US" dirty="0" smtClean="0"/>
              <a:t>模式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 smtClean="0">
                <a:solidFill>
                  <a:srgbClr val="00B050"/>
                </a:solidFill>
              </a:rPr>
              <a:t>a</a:t>
            </a:r>
            <a:r>
              <a:rPr lang="zh-TW" altLang="en-US" dirty="0"/>
              <a:t>、</a:t>
            </a:r>
            <a:r>
              <a:rPr lang="en-US" altLang="zh-TW" dirty="0">
                <a:solidFill>
                  <a:srgbClr val="00B050"/>
                </a:solidFill>
              </a:rPr>
              <a:t>s</a:t>
            </a:r>
            <a:r>
              <a:rPr lang="zh-TW" altLang="en-US" dirty="0"/>
              <a:t>、</a:t>
            </a:r>
            <a:r>
              <a:rPr lang="en-US" altLang="zh-TW" dirty="0" err="1">
                <a:solidFill>
                  <a:srgbClr val="00B050"/>
                </a:solidFill>
              </a:rPr>
              <a:t>i</a:t>
            </a:r>
            <a:r>
              <a:rPr lang="zh-TW" altLang="en-US" dirty="0"/>
              <a:t>、</a:t>
            </a:r>
            <a:r>
              <a:rPr lang="en-US" altLang="zh-TW" dirty="0" smtClean="0">
                <a:solidFill>
                  <a:srgbClr val="00B050"/>
                </a:solidFill>
              </a:rPr>
              <a:t>o</a:t>
            </a:r>
          </a:p>
          <a:p>
            <a:r>
              <a:rPr lang="zh-TW" altLang="en-US" dirty="0"/>
              <a:t>進入指令</a:t>
            </a:r>
            <a:r>
              <a:rPr lang="zh-TW" altLang="en-US" dirty="0" smtClean="0"/>
              <a:t>模式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 smtClean="0">
                <a:solidFill>
                  <a:srgbClr val="00B050"/>
                </a:solidFill>
              </a:rPr>
              <a:t>:</a:t>
            </a:r>
            <a:r>
              <a:rPr lang="zh-TW" altLang="en-US" dirty="0"/>
              <a:t>、</a:t>
            </a:r>
            <a:r>
              <a:rPr lang="en-US" altLang="zh-TW" dirty="0">
                <a:solidFill>
                  <a:srgbClr val="00B050"/>
                </a:solidFill>
              </a:rPr>
              <a:t>/</a:t>
            </a:r>
            <a:r>
              <a:rPr lang="zh-TW" altLang="en-US" dirty="0"/>
              <a:t>、</a:t>
            </a:r>
            <a:r>
              <a:rPr lang="en-US" altLang="zh-TW" dirty="0" smtClean="0">
                <a:solidFill>
                  <a:srgbClr val="00B050"/>
                </a:solidFill>
              </a:rPr>
              <a:t>?</a:t>
            </a:r>
          </a:p>
          <a:p>
            <a:r>
              <a:rPr lang="zh-TW" altLang="en-US" dirty="0"/>
              <a:t>進入選取</a:t>
            </a:r>
            <a:r>
              <a:rPr lang="zh-TW" altLang="en-US" dirty="0" smtClean="0"/>
              <a:t>模式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 smtClean="0">
                <a:solidFill>
                  <a:srgbClr val="00B050"/>
                </a:solidFill>
              </a:rPr>
              <a:t>v</a:t>
            </a:r>
            <a:r>
              <a:rPr lang="zh-TW" altLang="en-US" dirty="0" smtClean="0"/>
              <a:t>、</a:t>
            </a:r>
            <a:r>
              <a:rPr lang="en-US" altLang="zh-TW" dirty="0" smtClean="0">
                <a:solidFill>
                  <a:srgbClr val="00B050"/>
                </a:solidFill>
              </a:rPr>
              <a:t>V</a:t>
            </a:r>
            <a:r>
              <a:rPr lang="zh-TW" altLang="en-US" dirty="0" smtClean="0"/>
              <a:t>、</a:t>
            </a:r>
            <a:r>
              <a:rPr lang="en-US" altLang="zh-TW" dirty="0" smtClean="0">
                <a:solidFill>
                  <a:srgbClr val="00B050"/>
                </a:solidFill>
              </a:rPr>
              <a:t>ctrl + v</a:t>
            </a:r>
          </a:p>
          <a:p>
            <a:r>
              <a:rPr lang="zh-TW" altLang="en-US" dirty="0" smtClean="0"/>
              <a:t>換</a:t>
            </a:r>
            <a:r>
              <a:rPr lang="zh-TW" altLang="en-US" dirty="0"/>
              <a:t>回一般</a:t>
            </a:r>
            <a:r>
              <a:rPr lang="zh-TW" altLang="en-US" dirty="0" smtClean="0"/>
              <a:t>模式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 smtClean="0">
                <a:solidFill>
                  <a:srgbClr val="00B050"/>
                </a:solidFill>
              </a:rPr>
              <a:t>Esc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0104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指令</a:t>
            </a:r>
            <a:r>
              <a:rPr lang="zh-TW" altLang="en-US" dirty="0" smtClean="0"/>
              <a:t>模式：</a:t>
            </a:r>
            <a:endParaRPr lang="en-US" altLang="zh-TW" dirty="0" smtClean="0"/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:q!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退出檔案不儲存</a:t>
            </a:r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:q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退出</a:t>
            </a:r>
            <a:r>
              <a:rPr lang="zh-TW" altLang="en-US" dirty="0" smtClean="0"/>
              <a:t>檔案</a:t>
            </a:r>
            <a:r>
              <a:rPr lang="en-US" altLang="zh-TW" dirty="0" smtClean="0"/>
              <a:t>(</a:t>
            </a:r>
            <a:r>
              <a:rPr lang="zh-TW" altLang="en-US" dirty="0" smtClean="0"/>
              <a:t>已存檔時</a:t>
            </a:r>
            <a:r>
              <a:rPr lang="en-US" altLang="zh-TW" dirty="0" smtClean="0"/>
              <a:t>)</a:t>
            </a:r>
            <a:endParaRPr lang="en-US" altLang="zh-TW" dirty="0" smtClean="0">
              <a:solidFill>
                <a:srgbClr val="00B05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:</a:t>
            </a:r>
            <a:r>
              <a:rPr lang="en-US" altLang="zh-TW" dirty="0" err="1" smtClean="0">
                <a:solidFill>
                  <a:srgbClr val="00B050"/>
                </a:solidFill>
              </a:rPr>
              <a:t>wq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儲存</a:t>
            </a:r>
            <a:r>
              <a:rPr lang="zh-TW" altLang="en-US" dirty="0"/>
              <a:t>並退出</a:t>
            </a:r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:</a:t>
            </a:r>
            <a:r>
              <a:rPr lang="en-US" altLang="zh-TW" dirty="0" smtClean="0">
                <a:solidFill>
                  <a:srgbClr val="00B050"/>
                </a:solidFill>
              </a:rPr>
              <a:t>w</a:t>
            </a:r>
            <a:r>
              <a:rPr lang="en-US" altLang="zh-TW" dirty="0"/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儲存</a:t>
            </a:r>
            <a:endParaRPr lang="zh-TW" altLang="en-US" dirty="0"/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:w </a:t>
            </a:r>
            <a:r>
              <a:rPr lang="en-US" altLang="zh-TW" dirty="0" smtClean="0">
                <a:solidFill>
                  <a:srgbClr val="00B050"/>
                </a:solidFill>
              </a:rPr>
              <a:t>[filename]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另</a:t>
            </a:r>
            <a:r>
              <a:rPr lang="zh-TW" altLang="en-US" dirty="0"/>
              <a:t>存新檔</a:t>
            </a:r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:</a:t>
            </a:r>
            <a:r>
              <a:rPr lang="en-US" altLang="zh-TW" dirty="0" smtClean="0">
                <a:solidFill>
                  <a:srgbClr val="00B050"/>
                </a:solidFill>
              </a:rPr>
              <a:t>undo</a:t>
            </a:r>
            <a:r>
              <a:rPr lang="en-US" altLang="zh-TW" dirty="0"/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返回</a:t>
            </a:r>
            <a:r>
              <a:rPr lang="zh-TW" altLang="en-US" dirty="0"/>
              <a:t>上一</a:t>
            </a:r>
            <a:r>
              <a:rPr lang="zh-TW" altLang="en-US" dirty="0" smtClean="0"/>
              <a:t>動作</a:t>
            </a:r>
            <a:endParaRPr lang="en-US" altLang="zh-TW" dirty="0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lvl="1"/>
            <a:endParaRPr lang="en-US" altLang="zh-TW" dirty="0" smtClean="0">
              <a:solidFill>
                <a:srgbClr val="00B05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:</a:t>
            </a:r>
            <a:r>
              <a:rPr lang="en-US" altLang="zh-TW" dirty="0">
                <a:solidFill>
                  <a:srgbClr val="00B050"/>
                </a:solidFill>
              </a:rPr>
              <a:t>set </a:t>
            </a:r>
            <a:r>
              <a:rPr lang="en-US" altLang="zh-TW" dirty="0" smtClean="0">
                <a:solidFill>
                  <a:srgbClr val="00B050"/>
                </a:solidFill>
              </a:rPr>
              <a:t>nu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顯示行號</a:t>
            </a:r>
            <a:endParaRPr lang="zh-TW" altLang="en-US" dirty="0"/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:set </a:t>
            </a:r>
            <a:r>
              <a:rPr lang="en-US" altLang="zh-TW" dirty="0" err="1" smtClean="0">
                <a:solidFill>
                  <a:srgbClr val="00B050"/>
                </a:solidFill>
              </a:rPr>
              <a:t>nonu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smtClean="0"/>
              <a:t>關閉</a:t>
            </a:r>
            <a:r>
              <a:rPr lang="zh-TW" altLang="en-US"/>
              <a:t>行號</a:t>
            </a:r>
            <a:endParaRPr lang="en-US" altLang="zh-TW" dirty="0"/>
          </a:p>
          <a:p>
            <a:pPr lvl="1"/>
            <a:endParaRPr lang="en-US" altLang="zh-TW" dirty="0" smtClean="0">
              <a:solidFill>
                <a:srgbClr val="00B05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/[word]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往下搜尋字段</a:t>
            </a:r>
            <a:endParaRPr lang="en-US" altLang="zh-TW" dirty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?[word]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往上搜尋字段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n</a:t>
            </a:r>
            <a:r>
              <a:rPr lang="en-US" altLang="zh-TW" dirty="0"/>
              <a:t>	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找下一個符合字段</a:t>
            </a:r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/>
              <a:t>找上一個符合字</a:t>
            </a:r>
            <a:r>
              <a:rPr lang="zh-TW" altLang="en-US" dirty="0" smtClean="0"/>
              <a:t>段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8092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選取</a:t>
            </a:r>
            <a:r>
              <a:rPr lang="zh-TW" altLang="en-US" dirty="0" smtClean="0"/>
              <a:t>模式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一般</a:t>
            </a:r>
            <a:r>
              <a:rPr lang="zh-TW" altLang="en-US" dirty="0"/>
              <a:t>選取</a:t>
            </a:r>
            <a:r>
              <a:rPr lang="zh-TW" altLang="en-US" dirty="0" smtClean="0"/>
              <a:t>模式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V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zh-TW" altLang="en-US" dirty="0" smtClean="0"/>
              <a:t>行</a:t>
            </a:r>
            <a:r>
              <a:rPr lang="zh-TW" altLang="en-US" dirty="0"/>
              <a:t>選取</a:t>
            </a:r>
            <a:r>
              <a:rPr lang="zh-TW" altLang="en-US" dirty="0" smtClean="0"/>
              <a:t>模式</a:t>
            </a:r>
            <a:endParaRPr lang="zh-TW" altLang="en-US" dirty="0"/>
          </a:p>
          <a:p>
            <a:pPr lvl="1"/>
            <a:r>
              <a:rPr lang="en-US" altLang="zh-TW" dirty="0">
                <a:solidFill>
                  <a:srgbClr val="00B050"/>
                </a:solidFill>
              </a:rPr>
              <a:t>ctrl + </a:t>
            </a:r>
            <a:r>
              <a:rPr lang="en-US" altLang="zh-TW" dirty="0" smtClean="0">
                <a:solidFill>
                  <a:srgbClr val="00B050"/>
                </a:solidFill>
              </a:rPr>
              <a:t>v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區</a:t>
            </a:r>
            <a:r>
              <a:rPr lang="zh-TW" altLang="en-US" dirty="0"/>
              <a:t>塊選取</a:t>
            </a:r>
            <a:r>
              <a:rPr lang="zh-TW" altLang="en-US" dirty="0" smtClean="0"/>
              <a:t>模式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d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剪</a:t>
            </a:r>
            <a:r>
              <a:rPr lang="zh-TW" altLang="en-US" dirty="0"/>
              <a:t>下選取內容</a:t>
            </a:r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y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複製</a:t>
            </a:r>
            <a:r>
              <a:rPr lang="zh-TW" altLang="en-US" dirty="0"/>
              <a:t>選取</a:t>
            </a:r>
            <a:r>
              <a:rPr lang="zh-TW" altLang="en-US" dirty="0" smtClean="0"/>
              <a:t>內容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TW" altLang="en-US" dirty="0" smtClean="0"/>
              <a:t>貼上選取內容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1143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更換個人資訊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err="1" smtClean="0"/>
              <a:t>Git</a:t>
            </a:r>
            <a:r>
              <a:rPr lang="zh-TW" altLang="en-US" dirty="0" smtClean="0"/>
              <a:t>在做檔案</a:t>
            </a:r>
            <a:r>
              <a:rPr lang="zh-TW" altLang="en-US" dirty="0"/>
              <a:t>版本發佈時</a:t>
            </a:r>
            <a:r>
              <a:rPr lang="zh-TW" altLang="en-US" dirty="0" smtClean="0"/>
              <a:t>，會</a:t>
            </a:r>
            <a:r>
              <a:rPr lang="zh-TW" altLang="en-US" dirty="0"/>
              <a:t>記錄該版本是哪位開發者做</a:t>
            </a:r>
            <a:r>
              <a:rPr lang="zh-TW" altLang="en-US" dirty="0" smtClean="0"/>
              <a:t>的，所以可以重設個人資訊。</a:t>
            </a:r>
            <a:endParaRPr lang="en-US" altLang="zh-TW" dirty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err="1">
                <a:solidFill>
                  <a:srgbClr val="00B050"/>
                </a:solidFill>
              </a:rPr>
              <a:t>config</a:t>
            </a:r>
            <a:r>
              <a:rPr lang="en-US" altLang="zh-TW" dirty="0">
                <a:solidFill>
                  <a:srgbClr val="00B050"/>
                </a:solidFill>
              </a:rPr>
              <a:t> --global user.name "</a:t>
            </a:r>
            <a:r>
              <a:rPr lang="zh-TW" altLang="en-US" dirty="0">
                <a:solidFill>
                  <a:srgbClr val="00B050"/>
                </a:solidFill>
              </a:rPr>
              <a:t>您的姓名</a:t>
            </a:r>
            <a:r>
              <a:rPr lang="en-US" altLang="zh-TW" dirty="0">
                <a:solidFill>
                  <a:srgbClr val="00B050"/>
                </a:solidFill>
              </a:rPr>
              <a:t>"</a:t>
            </a:r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err="1">
                <a:solidFill>
                  <a:srgbClr val="00B050"/>
                </a:solidFill>
              </a:rPr>
              <a:t>config</a:t>
            </a:r>
            <a:r>
              <a:rPr lang="en-US" altLang="zh-TW" dirty="0">
                <a:solidFill>
                  <a:srgbClr val="00B050"/>
                </a:solidFill>
              </a:rPr>
              <a:t> --global </a:t>
            </a:r>
            <a:r>
              <a:rPr lang="en-US" altLang="zh-TW" dirty="0" err="1">
                <a:solidFill>
                  <a:srgbClr val="00B050"/>
                </a:solidFill>
              </a:rPr>
              <a:t>user.email</a:t>
            </a:r>
            <a:r>
              <a:rPr lang="en-US" altLang="zh-TW" dirty="0">
                <a:solidFill>
                  <a:srgbClr val="00B050"/>
                </a:solidFill>
              </a:rPr>
              <a:t> "</a:t>
            </a:r>
            <a:r>
              <a:rPr lang="zh-TW" altLang="en-US" dirty="0">
                <a:solidFill>
                  <a:srgbClr val="00B050"/>
                </a:solidFill>
              </a:rPr>
              <a:t>您的</a:t>
            </a:r>
            <a:r>
              <a:rPr lang="en-US" altLang="zh-TW" dirty="0">
                <a:solidFill>
                  <a:srgbClr val="00B050"/>
                </a:solidFill>
              </a:rPr>
              <a:t>Email"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結果查詢：</a:t>
            </a:r>
            <a:endParaRPr lang="en-US" altLang="zh-TW" dirty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err="1">
                <a:solidFill>
                  <a:srgbClr val="00B050"/>
                </a:solidFill>
              </a:rPr>
              <a:t>config</a:t>
            </a:r>
            <a:r>
              <a:rPr lang="en-US" altLang="zh-TW" dirty="0">
                <a:solidFill>
                  <a:srgbClr val="00B050"/>
                </a:solidFill>
              </a:rPr>
              <a:t> --list</a:t>
            </a:r>
          </a:p>
          <a:p>
            <a:r>
              <a:rPr lang="en-US" altLang="zh-TW" dirty="0" err="1" smtClean="0"/>
              <a:t>config</a:t>
            </a:r>
            <a:r>
              <a:rPr lang="zh-TW" altLang="en-US" dirty="0" smtClean="0"/>
              <a:t>位置：</a:t>
            </a:r>
            <a:endParaRPr lang="zh-TW" altLang="en-US" dirty="0"/>
          </a:p>
          <a:p>
            <a:pPr lvl="1"/>
            <a:r>
              <a:rPr lang="zh-TW" altLang="en-US" dirty="0"/>
              <a:t>實體檔案</a:t>
            </a:r>
            <a:r>
              <a:rPr lang="zh-TW" altLang="en-US" dirty="0" smtClean="0"/>
              <a:t>：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『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gitconfig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』</a:t>
            </a:r>
            <a:endParaRPr lang="zh-TW" altLang="en-US" dirty="0"/>
          </a:p>
          <a:p>
            <a:pPr lvl="2"/>
            <a:r>
              <a:rPr lang="en-US" altLang="zh-TW" dirty="0"/>
              <a:t>Windows</a:t>
            </a:r>
            <a:r>
              <a:rPr lang="zh-TW" altLang="en-US" dirty="0"/>
              <a:t>：</a:t>
            </a:r>
            <a:r>
              <a:rPr lang="en-US" altLang="zh-TW" dirty="0"/>
              <a:t>c:\documents and settings\user\.</a:t>
            </a:r>
            <a:r>
              <a:rPr lang="en-US" altLang="zh-TW" dirty="0" err="1"/>
              <a:t>gitconfig</a:t>
            </a:r>
            <a:endParaRPr lang="en-US" altLang="zh-TW" dirty="0"/>
          </a:p>
          <a:p>
            <a:pPr lvl="2"/>
            <a:r>
              <a:rPr lang="en-US" altLang="zh-TW" dirty="0" err="1" smtClean="0"/>
              <a:t>MacOS</a:t>
            </a:r>
            <a:r>
              <a:rPr lang="zh-TW" altLang="en-US" dirty="0" smtClean="0"/>
              <a:t>：</a:t>
            </a:r>
            <a:r>
              <a:rPr lang="en-US" altLang="zh-TW" dirty="0" smtClean="0"/>
              <a:t>~</a:t>
            </a:r>
            <a:r>
              <a:rPr lang="en-US" altLang="zh-TW" dirty="0"/>
              <a:t>/.</a:t>
            </a:r>
            <a:r>
              <a:rPr lang="en-US" altLang="zh-TW" dirty="0" err="1" smtClean="0"/>
              <a:t>gitconfig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4368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zh-TW" altLang="en-US" dirty="0"/>
              <a:t>的</a:t>
            </a:r>
            <a:r>
              <a:rPr lang="zh-TW" altLang="en-US" dirty="0" smtClean="0"/>
              <a:t>主要工作區域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工作目錄</a:t>
            </a:r>
            <a:r>
              <a:rPr lang="en-US" altLang="zh-TW" dirty="0" smtClean="0"/>
              <a:t>(Working directory)</a:t>
            </a:r>
          </a:p>
          <a:p>
            <a:r>
              <a:rPr lang="zh-TW" altLang="en-US" dirty="0"/>
              <a:t>暫存區</a:t>
            </a:r>
            <a:r>
              <a:rPr lang="en-US" altLang="zh-TW" dirty="0" smtClean="0"/>
              <a:t>(Staging area)</a:t>
            </a:r>
          </a:p>
          <a:p>
            <a:pPr lvl="1"/>
            <a:r>
              <a:rPr lang="zh-TW" altLang="en-US" dirty="0" smtClean="0"/>
              <a:t>使用</a:t>
            </a:r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add</a:t>
            </a:r>
            <a:r>
              <a:rPr lang="zh-TW" altLang="en-US" dirty="0"/>
              <a:t>將</a:t>
            </a:r>
            <a:r>
              <a:rPr lang="zh-TW" altLang="en-US" dirty="0" smtClean="0"/>
              <a:t>檔案加入暫</a:t>
            </a:r>
            <a:r>
              <a:rPr lang="zh-TW" altLang="en-US" dirty="0"/>
              <a:t>存區裡</a:t>
            </a:r>
            <a:r>
              <a:rPr lang="zh-TW" altLang="en-US" dirty="0" smtClean="0"/>
              <a:t>，使</a:t>
            </a:r>
            <a:r>
              <a:rPr lang="zh-TW" altLang="en-US" dirty="0"/>
              <a:t>其成追蹤對象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儲存</a:t>
            </a:r>
            <a:r>
              <a:rPr lang="zh-TW" altLang="en-US" dirty="0"/>
              <a:t>庫</a:t>
            </a:r>
            <a:r>
              <a:rPr lang="en-US" altLang="zh-TW" dirty="0" smtClean="0"/>
              <a:t>(Repository)</a:t>
            </a:r>
          </a:p>
          <a:p>
            <a:pPr lvl="1"/>
            <a:r>
              <a:rPr lang="zh-TW" altLang="en-US" dirty="0" smtClean="0"/>
              <a:t>本地端</a:t>
            </a:r>
            <a:r>
              <a:rPr lang="en-US" altLang="zh-TW" dirty="0" smtClean="0"/>
              <a:t>(Local)</a:t>
            </a:r>
          </a:p>
          <a:p>
            <a:pPr lvl="2"/>
            <a:r>
              <a:rPr lang="zh-TW" altLang="en-US" dirty="0" smtClean="0"/>
              <a:t>使用</a:t>
            </a:r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commit</a:t>
            </a:r>
            <a:r>
              <a:rPr lang="zh-TW" altLang="en-US" dirty="0" smtClean="0"/>
              <a:t>將</a:t>
            </a:r>
            <a:r>
              <a:rPr lang="zh-TW" altLang="en-US" dirty="0"/>
              <a:t>變更永久記錄到本地儲存庫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遠端</a:t>
            </a:r>
            <a:r>
              <a:rPr lang="en-US" altLang="zh-TW" dirty="0" smtClean="0"/>
              <a:t>(Remote)</a:t>
            </a:r>
          </a:p>
          <a:p>
            <a:pPr lvl="2"/>
            <a:r>
              <a:rPr lang="zh-TW" altLang="en-US" dirty="0" smtClean="0"/>
              <a:t>如：</a:t>
            </a:r>
            <a:r>
              <a:rPr lang="en-US" altLang="zh-TW" dirty="0" smtClean="0"/>
              <a:t>GitHub</a:t>
            </a:r>
          </a:p>
          <a:p>
            <a:pPr lvl="2"/>
            <a:r>
              <a:rPr lang="zh-TW" altLang="en-US" dirty="0" smtClean="0"/>
              <a:t>使用</a:t>
            </a:r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push</a:t>
            </a:r>
            <a:r>
              <a:rPr lang="zh-TW" altLang="en-US" dirty="0"/>
              <a:t>、</a:t>
            </a:r>
            <a:r>
              <a:rPr lang="en-US" altLang="zh-TW" dirty="0" err="1">
                <a:solidFill>
                  <a:srgbClr val="C00000"/>
                </a:solidFill>
              </a:rPr>
              <a:t>git</a:t>
            </a:r>
            <a:r>
              <a:rPr lang="en-US" altLang="zh-TW" dirty="0">
                <a:solidFill>
                  <a:srgbClr val="C00000"/>
                </a:solidFill>
              </a:rPr>
              <a:t> pull</a:t>
            </a:r>
            <a:r>
              <a:rPr lang="zh-TW" altLang="en-US" dirty="0"/>
              <a:t>、</a:t>
            </a:r>
            <a:r>
              <a:rPr lang="en-US" altLang="zh-TW" dirty="0" err="1">
                <a:solidFill>
                  <a:srgbClr val="C00000"/>
                </a:solidFill>
              </a:rPr>
              <a:t>git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clone</a:t>
            </a:r>
            <a:r>
              <a:rPr lang="zh-TW" altLang="en-US" dirty="0" smtClean="0"/>
              <a:t>進行</a:t>
            </a:r>
            <a:r>
              <a:rPr lang="zh-TW" altLang="en-US" dirty="0"/>
              <a:t>同步。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0631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</a:t>
            </a:r>
            <a:r>
              <a:rPr lang="zh-TW" altLang="en-US" dirty="0" smtClean="0"/>
              <a:t>區域關係圖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  <p:graphicFrame>
        <p:nvGraphicFramePr>
          <p:cNvPr id="9" name="內容版面配置區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864529"/>
              </p:ext>
            </p:extLst>
          </p:nvPr>
        </p:nvGraphicFramePr>
        <p:xfrm>
          <a:off x="1403648" y="2741263"/>
          <a:ext cx="6995160" cy="3703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756558" y="3665765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>
                <a:solidFill>
                  <a:srgbClr val="0000FF"/>
                </a:solidFill>
              </a:rPr>
              <a:t>git</a:t>
            </a:r>
            <a:r>
              <a:rPr lang="en-US" altLang="zh-TW" sz="2000" dirty="0" smtClean="0">
                <a:solidFill>
                  <a:srgbClr val="0000FF"/>
                </a:solidFill>
              </a:rPr>
              <a:t> add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153567" y="5013176"/>
            <a:ext cx="1298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>
                <a:solidFill>
                  <a:srgbClr val="0000FF"/>
                </a:solidFill>
              </a:rPr>
              <a:t>git</a:t>
            </a:r>
            <a:r>
              <a:rPr lang="en-US" altLang="zh-TW" sz="2000" dirty="0" smtClean="0">
                <a:solidFill>
                  <a:srgbClr val="0000FF"/>
                </a:solidFill>
              </a:rPr>
              <a:t> commit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086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完整架構圖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  <p:pic>
        <p:nvPicPr>
          <p:cNvPr id="1026" name="Picture 2" descr="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93366"/>
            <a:ext cx="5463540" cy="339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5476492" y="6067291"/>
            <a:ext cx="17507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  <a:latin typeface="+mn-lt"/>
                <a:ea typeface="+mn-ea"/>
              </a:rPr>
              <a:t>--from W3HexSchool</a:t>
            </a:r>
          </a:p>
        </p:txBody>
      </p:sp>
    </p:spTree>
    <p:extLst>
      <p:ext uri="{BB962C8B-B14F-4D97-AF65-F5344CB8AC3E}">
        <p14:creationId xmlns:p14="http://schemas.microsoft.com/office/powerpoint/2010/main" val="3629250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新建儲存庫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開啟 </a:t>
            </a:r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Bash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於檔案總管裡新增一個資料夾。</a:t>
            </a:r>
            <a:endParaRPr lang="en-US" altLang="zh-TW" dirty="0" smtClean="0"/>
          </a:p>
          <a:p>
            <a:r>
              <a:rPr lang="zh-TW" altLang="en-US" dirty="0"/>
              <a:t>透過 </a:t>
            </a:r>
            <a:r>
              <a:rPr lang="en-US" altLang="zh-TW" dirty="0" smtClean="0">
                <a:solidFill>
                  <a:srgbClr val="00B050"/>
                </a:solidFill>
              </a:rPr>
              <a:t>cd </a:t>
            </a:r>
            <a:r>
              <a:rPr lang="zh-TW" altLang="en-US" dirty="0" smtClean="0"/>
              <a:t>指令前往</a:t>
            </a:r>
            <a:r>
              <a:rPr lang="zh-TW" altLang="en-US" dirty="0"/>
              <a:t>該</a:t>
            </a:r>
            <a:r>
              <a:rPr lang="zh-TW" altLang="en-US" dirty="0" smtClean="0"/>
              <a:t>資料夾。</a:t>
            </a:r>
            <a:endParaRPr lang="zh-TW" altLang="en-US" dirty="0"/>
          </a:p>
          <a:p>
            <a:r>
              <a:rPr lang="zh-TW" altLang="en-US" dirty="0" smtClean="0"/>
              <a:t>執行指令：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 err="1" smtClean="0">
                <a:solidFill>
                  <a:srgbClr val="00B050"/>
                </a:solidFill>
              </a:rPr>
              <a:t>init</a:t>
            </a:r>
            <a:endParaRPr lang="en-US" altLang="zh-TW" dirty="0" smtClean="0">
              <a:solidFill>
                <a:srgbClr val="00B050"/>
              </a:solidFill>
            </a:endParaRPr>
          </a:p>
          <a:p>
            <a:pPr lvl="1"/>
            <a:r>
              <a:rPr lang="zh-TW" altLang="en-US" dirty="0"/>
              <a:t>該</a:t>
            </a:r>
            <a:r>
              <a:rPr lang="zh-TW" altLang="en-US" dirty="0" smtClean="0"/>
              <a:t>資料夾裡會產生一個隱藏目錄</a:t>
            </a:r>
            <a:r>
              <a:rPr lang="en-US" altLang="zh-TW" dirty="0" smtClean="0"/>
              <a:t>『</a:t>
            </a:r>
            <a:r>
              <a:rPr lang="en-US" altLang="zh-TW" dirty="0" smtClean="0">
                <a:solidFill>
                  <a:srgbClr val="C00000"/>
                </a:solidFill>
              </a:rPr>
              <a:t>.</a:t>
            </a:r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/>
              <a:t>』</a:t>
            </a:r>
            <a:r>
              <a:rPr lang="zh-TW" altLang="en-US" dirty="0" smtClean="0"/>
              <a:t>。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4086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提交版本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新增一個 </a:t>
            </a:r>
            <a:r>
              <a:rPr lang="en-US" altLang="zh-TW" dirty="0" smtClean="0"/>
              <a:t>mytest.html </a:t>
            </a:r>
            <a:r>
              <a:rPr lang="zh-TW" altLang="en-US" dirty="0" smtClean="0"/>
              <a:t>檔案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B050"/>
                </a:solidFill>
              </a:rPr>
              <a:t>touch mytest.html</a:t>
            </a:r>
            <a:endParaRPr lang="en-US" altLang="zh-TW" dirty="0">
              <a:solidFill>
                <a:srgbClr val="00B050"/>
              </a:solidFill>
            </a:endParaRPr>
          </a:p>
          <a:p>
            <a:pPr lvl="1"/>
            <a:r>
              <a:rPr lang="zh-TW" altLang="en-US" dirty="0" smtClean="0"/>
              <a:t>或使用</a:t>
            </a:r>
            <a:r>
              <a:rPr lang="en-US" altLang="zh-TW" dirty="0" smtClean="0"/>
              <a:t>vim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nano</a:t>
            </a:r>
            <a:r>
              <a:rPr lang="zh-TW" altLang="en-US" dirty="0" smtClean="0"/>
              <a:t>來編輯。</a:t>
            </a:r>
            <a:endParaRPr lang="en-US" altLang="zh-TW" dirty="0" smtClean="0"/>
          </a:p>
          <a:p>
            <a:r>
              <a:rPr lang="zh-TW" altLang="en-US" dirty="0" smtClean="0"/>
              <a:t>加入索引</a:t>
            </a:r>
            <a:r>
              <a:rPr lang="en-US" altLang="zh-TW" dirty="0" smtClean="0"/>
              <a:t>(</a:t>
            </a:r>
            <a:r>
              <a:rPr lang="zh-TW" altLang="en-US" dirty="0" smtClean="0"/>
              <a:t>暫存區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add mytest</a:t>
            </a:r>
            <a:r>
              <a:rPr lang="en-US" altLang="zh-TW" dirty="0" smtClean="0">
                <a:solidFill>
                  <a:srgbClr val="00B050"/>
                </a:solidFill>
              </a:rPr>
              <a:t>.html</a:t>
            </a:r>
            <a:endParaRPr lang="en-US" altLang="zh-TW" dirty="0">
              <a:solidFill>
                <a:srgbClr val="00B050"/>
              </a:solidFill>
            </a:endParaRPr>
          </a:p>
          <a:p>
            <a:r>
              <a:rPr lang="zh-TW" altLang="en-US" dirty="0"/>
              <a:t>提交一個新版</a:t>
            </a:r>
            <a:r>
              <a:rPr lang="zh-TW" altLang="en-US" dirty="0" smtClean="0"/>
              <a:t>本</a:t>
            </a:r>
            <a:endParaRPr lang="en-US" altLang="zh-TW" dirty="0" smtClean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commit -m </a:t>
            </a:r>
            <a:r>
              <a:rPr lang="en-US" altLang="zh-TW" dirty="0" smtClean="0">
                <a:solidFill>
                  <a:srgbClr val="00B050"/>
                </a:solidFill>
              </a:rPr>
              <a:t>"[</a:t>
            </a:r>
            <a:r>
              <a:rPr lang="zh-TW" altLang="en-US" dirty="0" smtClean="0">
                <a:solidFill>
                  <a:srgbClr val="00B050"/>
                </a:solidFill>
              </a:rPr>
              <a:t>版本資訊</a:t>
            </a:r>
            <a:r>
              <a:rPr lang="en-US" altLang="zh-TW" dirty="0" smtClean="0">
                <a:solidFill>
                  <a:srgbClr val="00B050"/>
                </a:solidFill>
              </a:rPr>
              <a:t>]"</a:t>
            </a:r>
          </a:p>
          <a:p>
            <a:pPr lvl="1"/>
            <a:r>
              <a:rPr lang="zh-TW" altLang="en-US" dirty="0" smtClean="0"/>
              <a:t>例如：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commit -m </a:t>
            </a:r>
            <a:r>
              <a:rPr lang="en-US" altLang="zh-TW" dirty="0" smtClean="0">
                <a:solidFill>
                  <a:srgbClr val="00B050"/>
                </a:solidFill>
              </a:rPr>
              <a:t>"</a:t>
            </a:r>
            <a:r>
              <a:rPr lang="zh-TW" altLang="en-US" dirty="0" smtClean="0">
                <a:solidFill>
                  <a:srgbClr val="00B050"/>
                </a:solidFill>
              </a:rPr>
              <a:t>新増</a:t>
            </a:r>
            <a:r>
              <a:rPr lang="en-US" altLang="zh-TW" dirty="0">
                <a:solidFill>
                  <a:srgbClr val="00B050"/>
                </a:solidFill>
              </a:rPr>
              <a:t>mytest</a:t>
            </a:r>
            <a:r>
              <a:rPr lang="en-US" altLang="zh-TW" dirty="0" smtClean="0">
                <a:solidFill>
                  <a:srgbClr val="00B050"/>
                </a:solidFill>
              </a:rPr>
              <a:t>.html"</a:t>
            </a:r>
            <a:endParaRPr lang="en-US" altLang="zh-TW" dirty="0">
              <a:solidFill>
                <a:srgbClr val="00B050"/>
              </a:solidFill>
            </a:endParaRPr>
          </a:p>
          <a:p>
            <a:endParaRPr lang="en-US" altLang="zh-TW" dirty="0"/>
          </a:p>
          <a:p>
            <a:r>
              <a:rPr lang="zh-TW" altLang="en-US" dirty="0" smtClean="0"/>
              <a:t>指令 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status</a:t>
            </a:r>
            <a:r>
              <a:rPr lang="zh-TW" altLang="en-US" dirty="0" smtClean="0"/>
              <a:t> 可查看狀態。</a:t>
            </a:r>
            <a:endParaRPr lang="en-US" altLang="zh-TW" dirty="0" smtClean="0"/>
          </a:p>
          <a:p>
            <a:r>
              <a:rPr lang="zh-TW" altLang="en-US" dirty="0"/>
              <a:t>觀看歷史紀錄：</a:t>
            </a:r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log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9631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</a:t>
            </a:r>
            <a:r>
              <a:rPr lang="zh-TW" altLang="en-US" dirty="0" smtClean="0"/>
              <a:t>追蹤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編輯先前檔案，例如：隨意加入一些文字內容。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可用 </a:t>
            </a:r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status</a:t>
            </a:r>
            <a:r>
              <a:rPr lang="en-US" altLang="zh-TW" dirty="0"/>
              <a:t> </a:t>
            </a:r>
            <a:r>
              <a:rPr lang="zh-TW" altLang="en-US" dirty="0" smtClean="0"/>
              <a:t>查詢編輯後的檔案狀態。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再次執行 </a:t>
            </a:r>
            <a:r>
              <a:rPr lang="en-US" altLang="zh-TW" dirty="0" smtClean="0"/>
              <a:t>add </a:t>
            </a:r>
            <a:r>
              <a:rPr lang="zh-TW" altLang="en-US" dirty="0" smtClean="0"/>
              <a:t>與 </a:t>
            </a:r>
            <a:r>
              <a:rPr lang="en-US" altLang="zh-TW" dirty="0" smtClean="0"/>
              <a:t>commit</a:t>
            </a:r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add mytest.html</a:t>
            </a:r>
            <a:endParaRPr lang="en-US" altLang="zh-TW" dirty="0"/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commit -m </a:t>
            </a:r>
            <a:r>
              <a:rPr lang="en-US" altLang="zh-TW" dirty="0" smtClean="0">
                <a:solidFill>
                  <a:srgbClr val="00B050"/>
                </a:solidFill>
              </a:rPr>
              <a:t>"</a:t>
            </a:r>
            <a:r>
              <a:rPr lang="zh-TW" altLang="en-US" dirty="0" smtClean="0">
                <a:solidFill>
                  <a:srgbClr val="00B050"/>
                </a:solidFill>
              </a:rPr>
              <a:t>修改部分</a:t>
            </a:r>
            <a:r>
              <a:rPr lang="zh-TW" altLang="en-US" dirty="0">
                <a:solidFill>
                  <a:srgbClr val="00B050"/>
                </a:solidFill>
              </a:rPr>
              <a:t>文字於</a:t>
            </a:r>
            <a:r>
              <a:rPr lang="en-US" altLang="zh-TW" dirty="0" smtClean="0">
                <a:solidFill>
                  <a:srgbClr val="00B050"/>
                </a:solidFill>
              </a:rPr>
              <a:t>mytest.html"</a:t>
            </a:r>
            <a:endParaRPr lang="en-US" altLang="zh-TW" dirty="0">
              <a:solidFill>
                <a:srgbClr val="00B050"/>
              </a:solidFill>
            </a:endParaRPr>
          </a:p>
          <a:p>
            <a:pPr lvl="1"/>
            <a:r>
              <a:rPr lang="zh-TW" altLang="en-US" dirty="0" smtClean="0"/>
              <a:t>再次觀看</a:t>
            </a:r>
            <a:r>
              <a:rPr lang="zh-TW" altLang="en-US" dirty="0"/>
              <a:t>歷史紀錄</a:t>
            </a:r>
            <a:r>
              <a:rPr lang="zh-TW" altLang="en-US" dirty="0" smtClean="0"/>
              <a:t>：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log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7329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回復或取消變更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restore </a:t>
            </a:r>
            <a:r>
              <a:rPr lang="en-US" altLang="zh-TW" dirty="0" smtClean="0"/>
              <a:t>→ </a:t>
            </a:r>
            <a:r>
              <a:rPr lang="zh-TW" altLang="en-US" dirty="0"/>
              <a:t>還原</a:t>
            </a:r>
            <a:r>
              <a:rPr lang="zh-TW" altLang="en-US" dirty="0" smtClean="0"/>
              <a:t>檔案 </a:t>
            </a:r>
            <a:r>
              <a:rPr lang="en-US" altLang="zh-TW" dirty="0"/>
              <a:t>(</a:t>
            </a:r>
            <a:r>
              <a:rPr lang="en-US" altLang="zh-TW" dirty="0" err="1"/>
              <a:t>Git</a:t>
            </a:r>
            <a:r>
              <a:rPr lang="en-US" altLang="zh-TW" dirty="0"/>
              <a:t> </a:t>
            </a:r>
            <a:r>
              <a:rPr lang="en-US" altLang="zh-TW" dirty="0" smtClean="0"/>
              <a:t>2.23</a:t>
            </a:r>
            <a:r>
              <a:rPr lang="zh-TW" altLang="en-US" dirty="0" smtClean="0"/>
              <a:t>版之後</a:t>
            </a:r>
            <a:r>
              <a:rPr lang="en-US" altLang="zh-TW" dirty="0" smtClean="0"/>
              <a:t>)</a:t>
            </a:r>
          </a:p>
          <a:p>
            <a:r>
              <a:rPr lang="en-US" altLang="zh-TW" dirty="0" err="1" smtClean="0">
                <a:solidFill>
                  <a:srgbClr val="C00000"/>
                </a:solidFill>
              </a:rPr>
              <a:t>git</a:t>
            </a:r>
            <a:r>
              <a:rPr lang="en-US" altLang="zh-TW" dirty="0" smtClean="0">
                <a:solidFill>
                  <a:srgbClr val="C00000"/>
                </a:solidFill>
              </a:rPr>
              <a:t> reset </a:t>
            </a:r>
            <a:r>
              <a:rPr lang="en-US" altLang="zh-TW" dirty="0"/>
              <a:t>→ </a:t>
            </a:r>
            <a:r>
              <a:rPr lang="zh-TW" altLang="en-US" dirty="0" smtClean="0"/>
              <a:t>退</a:t>
            </a:r>
            <a:r>
              <a:rPr lang="zh-TW" altLang="en-US" dirty="0"/>
              <a:t>回</a:t>
            </a:r>
            <a:r>
              <a:rPr lang="en-US" altLang="zh-TW" dirty="0" smtClean="0"/>
              <a:t>commit</a:t>
            </a:r>
          </a:p>
          <a:p>
            <a:r>
              <a:rPr lang="en-US" altLang="zh-TW" dirty="0" smtClean="0"/>
              <a:t>Ex:</a:t>
            </a:r>
          </a:p>
          <a:p>
            <a:pPr lvl="1"/>
            <a:r>
              <a:rPr lang="zh-TW" altLang="en-US" dirty="0"/>
              <a:t>取消檔案</a:t>
            </a:r>
            <a:r>
              <a:rPr lang="zh-TW" altLang="en-US" dirty="0" smtClean="0"/>
              <a:t>修改 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</a:rPr>
              <a:t>先產生一個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『</a:t>
            </a:r>
            <a:r>
              <a:rPr lang="zh-TW" altLang="en-US" dirty="0" smtClean="0">
                <a:solidFill>
                  <a:srgbClr val="FF0000"/>
                </a:solidFill>
              </a:rPr>
              <a:t>修改檔案</a:t>
            </a:r>
            <a:r>
              <a:rPr lang="en-US" altLang="zh-TW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』</a:t>
            </a:r>
            <a:r>
              <a:rPr lang="zh-TW" altLang="en-US" dirty="0" smtClean="0">
                <a:solidFill>
                  <a:srgbClr val="FF0000"/>
                </a:solidFill>
              </a:rPr>
              <a:t>的情境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restore </a:t>
            </a:r>
            <a:r>
              <a:rPr lang="en-US" altLang="zh-TW" dirty="0" smtClean="0">
                <a:solidFill>
                  <a:srgbClr val="00B050"/>
                </a:solidFill>
              </a:rPr>
              <a:t>mytest.html</a:t>
            </a:r>
          </a:p>
          <a:p>
            <a:pPr lvl="1"/>
            <a:r>
              <a:rPr lang="zh-TW" altLang="en-US" dirty="0" smtClean="0"/>
              <a:t>取消 </a:t>
            </a:r>
            <a:r>
              <a:rPr lang="en-US" altLang="zh-TW" dirty="0" err="1" smtClean="0"/>
              <a:t>git</a:t>
            </a:r>
            <a:r>
              <a:rPr lang="en-US" altLang="zh-TW" dirty="0" smtClean="0"/>
              <a:t> </a:t>
            </a:r>
            <a:r>
              <a:rPr lang="en-US" altLang="zh-TW" dirty="0"/>
              <a:t>add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先產生</a:t>
            </a:r>
            <a:r>
              <a:rPr lang="zh-TW" altLang="en-US" dirty="0" smtClean="0">
                <a:solidFill>
                  <a:srgbClr val="FF0000"/>
                </a:solidFill>
              </a:rPr>
              <a:t>一個</a:t>
            </a:r>
            <a:r>
              <a:rPr lang="en-US" altLang="zh-TW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『</a:t>
            </a:r>
            <a:r>
              <a:rPr lang="zh-TW" altLang="en-US" dirty="0" smtClean="0">
                <a:solidFill>
                  <a:srgbClr val="FF0000"/>
                </a:solidFill>
              </a:rPr>
              <a:t>已下達 </a:t>
            </a:r>
            <a:r>
              <a:rPr lang="en-US" altLang="zh-TW" dirty="0" err="1" smtClean="0">
                <a:solidFill>
                  <a:srgbClr val="FF0000"/>
                </a:solidFill>
              </a:rPr>
              <a:t>git</a:t>
            </a:r>
            <a:r>
              <a:rPr lang="en-US" altLang="zh-TW" dirty="0" smtClean="0">
                <a:solidFill>
                  <a:srgbClr val="FF0000"/>
                </a:solidFill>
              </a:rPr>
              <a:t> add </a:t>
            </a:r>
            <a:r>
              <a:rPr lang="zh-TW" altLang="en-US" dirty="0" smtClean="0">
                <a:solidFill>
                  <a:srgbClr val="FF0000"/>
                </a:solidFill>
              </a:rPr>
              <a:t>指</a:t>
            </a:r>
            <a:r>
              <a:rPr lang="zh-TW" altLang="en-US" dirty="0">
                <a:solidFill>
                  <a:srgbClr val="FF0000"/>
                </a:solidFill>
              </a:rPr>
              <a:t>令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』</a:t>
            </a:r>
            <a:r>
              <a:rPr lang="zh-TW" altLang="en-US" dirty="0" smtClean="0">
                <a:solidFill>
                  <a:srgbClr val="FF0000"/>
                </a:solidFill>
              </a:rPr>
              <a:t>的情境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restore --staged mytest.html</a:t>
            </a:r>
          </a:p>
          <a:p>
            <a:pPr lvl="2"/>
            <a:r>
              <a:rPr lang="zh-TW" altLang="en-US" dirty="0" smtClean="0"/>
              <a:t>利用 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status </a:t>
            </a:r>
            <a:r>
              <a:rPr lang="zh-TW" altLang="en-US" dirty="0" smtClean="0"/>
              <a:t>查看，如果：</a:t>
            </a:r>
            <a:endParaRPr lang="en-US" altLang="zh-TW" dirty="0" smtClean="0"/>
          </a:p>
          <a:p>
            <a:pPr lvl="3"/>
            <a:r>
              <a:rPr lang="en-US" altLang="zh-TW" dirty="0" smtClean="0"/>
              <a:t>"Changes </a:t>
            </a:r>
            <a:r>
              <a:rPr lang="en-US" altLang="zh-TW" dirty="0"/>
              <a:t>to be </a:t>
            </a:r>
            <a:r>
              <a:rPr lang="en-US" altLang="zh-TW" dirty="0" smtClean="0"/>
              <a:t>committed" → </a:t>
            </a:r>
            <a:r>
              <a:rPr lang="zh-TW" altLang="en-US" dirty="0" smtClean="0"/>
              <a:t>在</a:t>
            </a:r>
            <a:r>
              <a:rPr lang="en-US" altLang="zh-TW" dirty="0" smtClean="0"/>
              <a:t>Staging area</a:t>
            </a:r>
          </a:p>
          <a:p>
            <a:pPr lvl="3"/>
            <a:r>
              <a:rPr lang="en-US" altLang="zh-TW" dirty="0" smtClean="0"/>
              <a:t>"Changes </a:t>
            </a:r>
            <a:r>
              <a:rPr lang="en-US" altLang="zh-TW" dirty="0"/>
              <a:t>not staged for </a:t>
            </a:r>
            <a:r>
              <a:rPr lang="en-US" altLang="zh-TW" dirty="0" smtClean="0"/>
              <a:t>commit"</a:t>
            </a:r>
            <a:r>
              <a:rPr lang="en-US" altLang="zh-TW" dirty="0"/>
              <a:t> </a:t>
            </a:r>
            <a:r>
              <a:rPr lang="en-US" altLang="zh-TW" dirty="0" smtClean="0"/>
              <a:t>→ </a:t>
            </a:r>
            <a:r>
              <a:rPr lang="zh-TW" altLang="en-US" dirty="0" smtClean="0"/>
              <a:t>在</a:t>
            </a:r>
            <a:r>
              <a:rPr lang="en-US" altLang="zh-TW" dirty="0" smtClean="0"/>
              <a:t>Working directory</a:t>
            </a:r>
          </a:p>
          <a:p>
            <a:pPr lvl="1"/>
            <a:r>
              <a:rPr lang="zh-TW" altLang="en-US" dirty="0" smtClean="0"/>
              <a:t>回到</a:t>
            </a:r>
            <a:r>
              <a:rPr lang="zh-TW" altLang="en-US" dirty="0"/>
              <a:t>上一個 </a:t>
            </a:r>
            <a:r>
              <a:rPr lang="en-US" altLang="zh-TW" dirty="0" smtClean="0"/>
              <a:t>commit</a:t>
            </a:r>
          </a:p>
          <a:p>
            <a:pPr lvl="2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reset --soft </a:t>
            </a:r>
            <a:r>
              <a:rPr lang="en-US" altLang="zh-TW" dirty="0" smtClean="0">
                <a:solidFill>
                  <a:srgbClr val="00B050"/>
                </a:solidFill>
              </a:rPr>
              <a:t>HEAD~1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9847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/>
              <a:t>版本管控</a:t>
            </a:r>
            <a:endParaRPr lang="en-US" altLang="zh-TW" dirty="0"/>
          </a:p>
          <a:p>
            <a:pPr eaLnBrk="1" hangingPunct="1"/>
            <a:r>
              <a:rPr lang="en-US" altLang="zh-TW" dirty="0" err="1"/>
              <a:t>Git</a:t>
            </a:r>
            <a:r>
              <a:rPr lang="zh-TW" altLang="en-US" dirty="0"/>
              <a:t>安裝與操作</a:t>
            </a:r>
            <a:endParaRPr lang="en-US" altLang="zh-TW" dirty="0"/>
          </a:p>
          <a:p>
            <a:pPr eaLnBrk="1" hangingPunct="1"/>
            <a:r>
              <a:rPr lang="en-US" altLang="zh-TW" dirty="0">
                <a:solidFill>
                  <a:schemeClr val="folHlink"/>
                </a:solidFill>
              </a:rPr>
              <a:t>GitHub</a:t>
            </a:r>
            <a:r>
              <a:rPr lang="zh-TW" altLang="en-US" dirty="0">
                <a:solidFill>
                  <a:schemeClr val="folHlink"/>
                </a:solidFill>
              </a:rPr>
              <a:t>註冊與操作</a:t>
            </a:r>
            <a:endParaRPr lang="en-US" altLang="zh-TW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TW" dirty="0"/>
              <a:t>GitHub</a:t>
            </a:r>
            <a:r>
              <a:rPr lang="zh-TW" altLang="en-US" dirty="0"/>
              <a:t>多人合作</a:t>
            </a:r>
            <a:endParaRPr lang="en-US" altLang="zh-TW" dirty="0"/>
          </a:p>
          <a:p>
            <a:pPr eaLnBrk="1" hangingPunct="1"/>
            <a:r>
              <a:rPr lang="zh-TW" altLang="en-US" dirty="0" smtClean="0"/>
              <a:t>實</a:t>
            </a:r>
            <a:r>
              <a:rPr lang="zh-TW" altLang="en-US" dirty="0"/>
              <a:t>作練習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151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GitHub</a:t>
            </a:r>
            <a:r>
              <a:rPr lang="zh-TW" altLang="en-US" dirty="0" smtClean="0"/>
              <a:t>註冊與環境操作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/>
              <a:t>官網：</a:t>
            </a:r>
            <a:r>
              <a:rPr lang="en-US" altLang="zh-TW" sz="2800" dirty="0" smtClean="0"/>
              <a:t>https</a:t>
            </a:r>
            <a:r>
              <a:rPr lang="en-US" altLang="zh-TW" sz="2800" dirty="0"/>
              <a:t>://</a:t>
            </a:r>
            <a:r>
              <a:rPr lang="en-US" altLang="zh-TW" sz="2800" dirty="0" smtClean="0"/>
              <a:t>github.com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20" y="2597422"/>
            <a:ext cx="5753100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76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/>
              <a:t>註冊完成、或登入後之</a:t>
            </a:r>
            <a:r>
              <a:rPr lang="en-US" altLang="zh-TW" sz="2800" dirty="0" smtClean="0"/>
              <a:t>GitHub</a:t>
            </a:r>
            <a:r>
              <a:rPr lang="zh-TW" altLang="en-US" sz="2800" dirty="0" smtClean="0"/>
              <a:t>環境。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20" y="2597422"/>
            <a:ext cx="5753100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23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20" y="2597422"/>
            <a:ext cx="5753100" cy="407193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/>
              <a:t>建立新</a:t>
            </a:r>
            <a:r>
              <a:rPr lang="en-US" altLang="zh-TW" sz="2800" dirty="0" smtClean="0"/>
              <a:t>Repository</a:t>
            </a:r>
            <a:r>
              <a:rPr lang="zh-TW" altLang="en-US" sz="2800" dirty="0" smtClean="0"/>
              <a:t>：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10" name="圓角矩形 9"/>
          <p:cNvSpPr/>
          <p:nvPr/>
        </p:nvSpPr>
        <p:spPr>
          <a:xfrm>
            <a:off x="2699792" y="3356992"/>
            <a:ext cx="504056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2006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sz="2400" dirty="0" smtClean="0"/>
              <a:t>Repository name</a:t>
            </a:r>
          </a:p>
          <a:p>
            <a:pPr lvl="1"/>
            <a:r>
              <a:rPr lang="en-US" altLang="zh-TW" sz="2400" dirty="0" smtClean="0"/>
              <a:t>Choose visibility: Public / Private</a:t>
            </a:r>
            <a:endParaRPr lang="zh-TW" altLang="en-US" sz="24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17881"/>
          <a:stretch/>
        </p:blipFill>
        <p:spPr>
          <a:xfrm>
            <a:off x="2051720" y="3123799"/>
            <a:ext cx="5753100" cy="3343846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6" name="圓角矩形 5"/>
          <p:cNvSpPr/>
          <p:nvPr/>
        </p:nvSpPr>
        <p:spPr>
          <a:xfrm>
            <a:off x="3851920" y="3875357"/>
            <a:ext cx="2880320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3203848" y="5060003"/>
            <a:ext cx="3456384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945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t="9812"/>
          <a:stretch/>
        </p:blipFill>
        <p:spPr>
          <a:xfrm>
            <a:off x="1691680" y="2734995"/>
            <a:ext cx="5753100" cy="367240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/>
              <a:t>上</a:t>
            </a:r>
            <a:r>
              <a:rPr lang="zh-TW" altLang="en-US" sz="2800" dirty="0"/>
              <a:t>傳、</a:t>
            </a:r>
            <a:r>
              <a:rPr lang="zh-TW" altLang="en-US" sz="2800" dirty="0" smtClean="0"/>
              <a:t>或新增檔案：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  <p:sp>
        <p:nvSpPr>
          <p:cNvPr id="8" name="圓角矩形 7"/>
          <p:cNvSpPr/>
          <p:nvPr/>
        </p:nvSpPr>
        <p:spPr>
          <a:xfrm>
            <a:off x="4932040" y="3789040"/>
            <a:ext cx="1008112" cy="4340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158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t="9812"/>
          <a:stretch/>
        </p:blipFill>
        <p:spPr>
          <a:xfrm>
            <a:off x="1699220" y="2708920"/>
            <a:ext cx="5753100" cy="367240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/>
              <a:t>上傳、或建立新資料夾：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  <p:sp>
        <p:nvSpPr>
          <p:cNvPr id="7" name="橢圓形圖說文字 6"/>
          <p:cNvSpPr/>
          <p:nvPr/>
        </p:nvSpPr>
        <p:spPr>
          <a:xfrm>
            <a:off x="2843808" y="3933056"/>
            <a:ext cx="3744416" cy="974811"/>
          </a:xfrm>
          <a:prstGeom prst="wedgeEllipseCallout">
            <a:avLst>
              <a:gd name="adj1" fmla="val -56279"/>
              <a:gd name="adj2" fmla="val -10489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"dir2/"</a:t>
            </a:r>
          </a:p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於文字後方加入斜線</a:t>
            </a:r>
            <a:r>
              <a:rPr lang="en-US" altLang="zh-TW" dirty="0" smtClean="0">
                <a:solidFill>
                  <a:schemeClr val="tx1"/>
                </a:solidFill>
              </a:rPr>
              <a:t>"/"</a:t>
            </a:r>
            <a:r>
              <a:rPr lang="zh-TW" altLang="en-US" dirty="0" smtClean="0">
                <a:solidFill>
                  <a:schemeClr val="tx1"/>
                </a:solidFill>
              </a:rPr>
              <a:t>，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可直接形直資料夾。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110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err="1" smtClean="0"/>
              <a:t>Git</a:t>
            </a:r>
            <a:r>
              <a:rPr lang="zh-TW" altLang="en-US" dirty="0" smtClean="0"/>
              <a:t>將檔案</a:t>
            </a:r>
            <a:r>
              <a:rPr lang="zh-TW" altLang="en-US" dirty="0"/>
              <a:t>上</a:t>
            </a:r>
            <a:r>
              <a:rPr lang="zh-TW" altLang="en-US" dirty="0" smtClean="0"/>
              <a:t>傳至</a:t>
            </a:r>
            <a:r>
              <a:rPr lang="en-US" altLang="zh-TW" dirty="0" smtClean="0"/>
              <a:t>GitHub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err="1"/>
              <a:t>Git</a:t>
            </a:r>
            <a:r>
              <a:rPr lang="zh-TW" altLang="en-US" dirty="0"/>
              <a:t>與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運作示意圖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err="1" smtClean="0"/>
              <a:t>Git</a:t>
            </a:r>
            <a:r>
              <a:rPr lang="zh-TW" altLang="en-US" dirty="0" smtClean="0"/>
              <a:t>是</a:t>
            </a:r>
            <a:r>
              <a:rPr lang="zh-TW" altLang="en-US" dirty="0"/>
              <a:t>分散式系統，每位開發者在本地皆擁有完整的版本</a:t>
            </a:r>
            <a:r>
              <a:rPr lang="zh-TW" altLang="en-US" dirty="0" smtClean="0"/>
              <a:t>庫。</a:t>
            </a:r>
            <a:endParaRPr lang="en-US" altLang="zh-TW" dirty="0" smtClean="0"/>
          </a:p>
          <a:p>
            <a:r>
              <a:rPr lang="en-US" altLang="zh-TW" dirty="0" smtClean="0"/>
              <a:t>GitHub</a:t>
            </a:r>
            <a:r>
              <a:rPr lang="zh-TW" altLang="en-US" dirty="0" smtClean="0"/>
              <a:t>是</a:t>
            </a:r>
            <a:r>
              <a:rPr lang="zh-TW" altLang="en-US" dirty="0"/>
              <a:t>遠端同步與協作的</a:t>
            </a:r>
            <a:r>
              <a:rPr lang="zh-TW" altLang="en-US" dirty="0" smtClean="0"/>
              <a:t>平台。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t="31008" b="30602"/>
          <a:stretch/>
        </p:blipFill>
        <p:spPr>
          <a:xfrm>
            <a:off x="1182869" y="2708920"/>
            <a:ext cx="7315200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7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t="39256" b="6671"/>
          <a:stretch/>
        </p:blipFill>
        <p:spPr>
          <a:xfrm>
            <a:off x="683568" y="3501008"/>
            <a:ext cx="7795260" cy="302433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請先至 </a:t>
            </a:r>
            <a:r>
              <a:rPr lang="en-US" altLang="zh-TW" sz="2400" dirty="0"/>
              <a:t>GitHub </a:t>
            </a:r>
            <a:r>
              <a:rPr lang="zh-TW" altLang="en-US" sz="2400" dirty="0"/>
              <a:t>註冊</a:t>
            </a:r>
            <a:r>
              <a:rPr lang="zh-TW" altLang="en-US" sz="2400" dirty="0" smtClean="0"/>
              <a:t>帳號。</a:t>
            </a:r>
            <a:endParaRPr lang="en-US" altLang="zh-TW" sz="2400" dirty="0" smtClean="0"/>
          </a:p>
          <a:p>
            <a:r>
              <a:rPr lang="zh-TW" altLang="en-US" sz="2400" dirty="0" smtClean="0"/>
              <a:t>於</a:t>
            </a:r>
            <a:r>
              <a:rPr lang="en-US" altLang="zh-TW" sz="2400" dirty="0" smtClean="0"/>
              <a:t>GitHub</a:t>
            </a:r>
            <a:r>
              <a:rPr lang="zh-TW" altLang="en-US" sz="2400" dirty="0" smtClean="0"/>
              <a:t>環境，建立</a:t>
            </a:r>
            <a:r>
              <a:rPr lang="zh-TW" altLang="en-US" sz="2400" dirty="0"/>
              <a:t>新</a:t>
            </a:r>
            <a:r>
              <a:rPr lang="en-US" altLang="zh-TW" sz="2400" dirty="0" smtClean="0"/>
              <a:t>Repository</a:t>
            </a:r>
            <a:r>
              <a:rPr lang="zh-TW" altLang="en-US" sz="2400" dirty="0" smtClean="0"/>
              <a:t>，如：</a:t>
            </a:r>
            <a:r>
              <a:rPr lang="en-US" altLang="zh-TW" sz="2400" dirty="0" smtClean="0">
                <a:solidFill>
                  <a:srgbClr val="00B050"/>
                </a:solidFill>
              </a:rPr>
              <a:t>mytest123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r>
              <a:rPr lang="zh-TW" altLang="en-US" sz="2400" dirty="0" smtClean="0"/>
              <a:t>輸入下列</a:t>
            </a:r>
            <a:r>
              <a:rPr lang="en-US" altLang="zh-TW" sz="2400" dirty="0" err="1" smtClean="0"/>
              <a:t>Git</a:t>
            </a:r>
            <a:r>
              <a:rPr lang="zh-TW" altLang="en-US" sz="2400" dirty="0" smtClean="0"/>
              <a:t>指令：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8" name="矩形 7"/>
          <p:cNvSpPr/>
          <p:nvPr/>
        </p:nvSpPr>
        <p:spPr>
          <a:xfrm>
            <a:off x="984481" y="5372102"/>
            <a:ext cx="5040560" cy="936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359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續前頁紅框處之指令：</a:t>
            </a:r>
            <a:endParaRPr lang="en-US" altLang="zh-TW" dirty="0" smtClean="0"/>
          </a:p>
          <a:p>
            <a:pPr lvl="1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remote</a:t>
            </a:r>
          </a:p>
          <a:p>
            <a:pPr lvl="2"/>
            <a:r>
              <a:rPr lang="zh-TW" altLang="en-US" dirty="0" smtClean="0"/>
              <a:t>用來</a:t>
            </a:r>
            <a:r>
              <a:rPr lang="zh-TW" altLang="en-US" dirty="0"/>
              <a:t>查看、增加、刪除你專案中與遠端</a:t>
            </a:r>
            <a:r>
              <a:rPr lang="en-US" altLang="zh-TW" dirty="0"/>
              <a:t>(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等</a:t>
            </a:r>
            <a:r>
              <a:rPr lang="en-US" altLang="zh-TW" dirty="0"/>
              <a:t>)</a:t>
            </a:r>
            <a:r>
              <a:rPr lang="zh-TW" altLang="en-US" dirty="0"/>
              <a:t>儲存庫的連線設定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若要更新位址：</a:t>
            </a:r>
            <a:endParaRPr lang="en-US" altLang="zh-TW" dirty="0" smtClean="0"/>
          </a:p>
          <a:p>
            <a:pPr lvl="3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remote set-</a:t>
            </a:r>
            <a:r>
              <a:rPr lang="en-US" altLang="zh-TW" dirty="0" err="1">
                <a:solidFill>
                  <a:srgbClr val="00B050"/>
                </a:solidFill>
              </a:rPr>
              <a:t>url</a:t>
            </a:r>
            <a:r>
              <a:rPr lang="en-US" altLang="zh-TW" dirty="0">
                <a:solidFill>
                  <a:srgbClr val="00B050"/>
                </a:solidFill>
              </a:rPr>
              <a:t> origin </a:t>
            </a:r>
            <a:r>
              <a:rPr lang="en-US" altLang="zh-TW" dirty="0" smtClean="0">
                <a:solidFill>
                  <a:srgbClr val="00B050"/>
                </a:solidFill>
              </a:rPr>
              <a:t>[URL]</a:t>
            </a:r>
          </a:p>
          <a:p>
            <a:pPr lvl="3"/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remote -v</a:t>
            </a:r>
            <a:r>
              <a:rPr lang="zh-TW" altLang="en-US" dirty="0" smtClean="0"/>
              <a:t>：查看</a:t>
            </a:r>
            <a:r>
              <a:rPr lang="zh-TW" altLang="en-US" dirty="0"/>
              <a:t>是否</a:t>
            </a:r>
            <a:r>
              <a:rPr lang="zh-TW" altLang="en-US" dirty="0" smtClean="0"/>
              <a:t>有修改成功。</a:t>
            </a:r>
            <a:endParaRPr lang="en-US" altLang="zh-TW" dirty="0" smtClean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smtClean="0">
                <a:solidFill>
                  <a:srgbClr val="00B050"/>
                </a:solidFill>
              </a:rPr>
              <a:t>branch</a:t>
            </a:r>
          </a:p>
          <a:p>
            <a:pPr lvl="2"/>
            <a:r>
              <a:rPr lang="zh-TW" altLang="en-US" dirty="0" smtClean="0"/>
              <a:t>用來</a:t>
            </a:r>
            <a:r>
              <a:rPr lang="zh-TW" altLang="en-US" dirty="0"/>
              <a:t>顯示、建立、刪除本地</a:t>
            </a:r>
            <a:r>
              <a:rPr lang="zh-TW" altLang="en-US" dirty="0" smtClean="0"/>
              <a:t>的分支。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當在本地端完成</a:t>
            </a:r>
            <a:r>
              <a:rPr lang="zh-TW" altLang="en-US" dirty="0"/>
              <a:t>修改</a:t>
            </a:r>
            <a:r>
              <a:rPr lang="zh-TW" altLang="en-US" dirty="0" smtClean="0"/>
              <a:t>後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B050"/>
                </a:solidFill>
              </a:rPr>
              <a:t>commit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，使用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push</a:t>
            </a:r>
            <a:r>
              <a:rPr lang="zh-TW" altLang="en-US" dirty="0" smtClean="0"/>
              <a:t>就</a:t>
            </a:r>
            <a:r>
              <a:rPr lang="zh-TW" altLang="en-US" dirty="0"/>
              <a:t>可以</a:t>
            </a:r>
            <a:r>
              <a:rPr lang="zh-TW" altLang="en-US" dirty="0" smtClean="0"/>
              <a:t>把檔案上</a:t>
            </a:r>
            <a:r>
              <a:rPr lang="zh-TW" altLang="en-US" dirty="0"/>
              <a:t>傳</a:t>
            </a:r>
            <a:r>
              <a:rPr lang="zh-TW" altLang="en-US" dirty="0" smtClean="0"/>
              <a:t>到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5406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33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45357"/>
            <a:ext cx="7795260" cy="55930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43608" y="3356992"/>
            <a:ext cx="4896544" cy="1512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949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 smtClean="0"/>
              <a:t>連結遠端</a:t>
            </a:r>
            <a:r>
              <a:rPr lang="zh-TW" altLang="en-US" dirty="0"/>
              <a:t>儲存</a:t>
            </a:r>
            <a:r>
              <a:rPr lang="zh-TW" altLang="en-US" dirty="0" smtClean="0"/>
              <a:t>庫成功後，之後</a:t>
            </a:r>
            <a:r>
              <a:rPr lang="en-US" altLang="zh-TW" dirty="0" smtClean="0"/>
              <a:t>push</a:t>
            </a:r>
            <a:r>
              <a:rPr lang="zh-TW" altLang="en-US" dirty="0" smtClean="0"/>
              <a:t>動作只需鍵入：</a:t>
            </a:r>
            <a:endParaRPr lang="en-US" altLang="zh-TW" dirty="0" smtClean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smtClean="0">
                <a:solidFill>
                  <a:srgbClr val="00B050"/>
                </a:solidFill>
              </a:rPr>
              <a:t>push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或 </a:t>
            </a:r>
            <a:r>
              <a:rPr lang="en-US" altLang="zh-TW" dirty="0" err="1" smtClean="0">
                <a:solidFill>
                  <a:srgbClr val="00B050"/>
                </a:solidFill>
              </a:rPr>
              <a:t>git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push </a:t>
            </a:r>
            <a:r>
              <a:rPr lang="en-US" altLang="zh-TW" dirty="0" smtClean="0">
                <a:solidFill>
                  <a:srgbClr val="00B050"/>
                </a:solidFill>
              </a:rPr>
              <a:t>origin main</a:t>
            </a:r>
            <a:r>
              <a:rPr lang="en-US" altLang="zh-TW" dirty="0"/>
              <a:t> (</a:t>
            </a:r>
            <a:r>
              <a:rPr lang="zh-TW" altLang="en-US" dirty="0"/>
              <a:t>或 </a:t>
            </a:r>
            <a:r>
              <a:rPr lang="en-US" altLang="zh-TW" dirty="0">
                <a:solidFill>
                  <a:srgbClr val="00B050"/>
                </a:solidFill>
              </a:rPr>
              <a:t>master</a:t>
            </a:r>
            <a:r>
              <a:rPr lang="en-US" altLang="zh-TW" dirty="0"/>
              <a:t>) </a:t>
            </a:r>
            <a:r>
              <a:rPr lang="zh-TW" altLang="en-US" dirty="0"/>
              <a:t>指令</a:t>
            </a:r>
            <a:endParaRPr lang="en-US" altLang="zh-TW" dirty="0" smtClean="0"/>
          </a:p>
          <a:p>
            <a:pPr lvl="2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push -u origin </a:t>
            </a:r>
            <a:r>
              <a:rPr lang="en-US" altLang="zh-TW" dirty="0" smtClean="0">
                <a:solidFill>
                  <a:srgbClr val="00B050"/>
                </a:solidFill>
              </a:rPr>
              <a:t>main</a:t>
            </a:r>
            <a:r>
              <a:rPr lang="zh-TW" altLang="en-US" dirty="0" smtClean="0"/>
              <a:t>：於首次推送時使用，在於建立本地</a:t>
            </a:r>
            <a:r>
              <a:rPr lang="zh-TW" altLang="en-US" dirty="0"/>
              <a:t>與遠端儲存庫的</a:t>
            </a:r>
            <a:r>
              <a:rPr lang="zh-TW" altLang="en-US" dirty="0" smtClean="0"/>
              <a:t>追蹤關連。</a:t>
            </a:r>
            <a:endParaRPr lang="en-US" altLang="zh-TW" dirty="0"/>
          </a:p>
          <a:p>
            <a:pPr lvl="1"/>
            <a:r>
              <a:rPr lang="zh-TW" altLang="en-US" dirty="0" smtClean="0"/>
              <a:t>整個</a:t>
            </a:r>
            <a:r>
              <a:rPr lang="en-US" altLang="zh-TW" dirty="0" smtClean="0"/>
              <a:t>branch</a:t>
            </a:r>
            <a:r>
              <a:rPr lang="zh-TW" altLang="en-US" dirty="0" smtClean="0"/>
              <a:t>的「檔案</a:t>
            </a:r>
            <a:r>
              <a:rPr lang="zh-TW" altLang="en-US" dirty="0"/>
              <a:t>」</a:t>
            </a:r>
            <a:r>
              <a:rPr lang="zh-TW" altLang="en-US" dirty="0" smtClean="0"/>
              <a:t>或「</a:t>
            </a:r>
            <a:r>
              <a:rPr lang="zh-TW" altLang="en-US" dirty="0"/>
              <a:t>資料夾</a:t>
            </a:r>
            <a:r>
              <a:rPr lang="zh-TW" altLang="en-US" dirty="0" smtClean="0"/>
              <a:t>」皆會推</a:t>
            </a:r>
            <a:r>
              <a:rPr lang="zh-TW" altLang="en-US" dirty="0"/>
              <a:t>送到遠端儲存</a:t>
            </a:r>
            <a:r>
              <a:rPr lang="zh-TW" altLang="en-US" dirty="0" smtClean="0"/>
              <a:t>庫。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注意：在</a:t>
            </a:r>
            <a:r>
              <a:rPr lang="en-US" altLang="zh-TW" dirty="0" smtClean="0"/>
              <a:t>push</a:t>
            </a:r>
            <a:r>
              <a:rPr lang="zh-TW" altLang="en-US" dirty="0" smtClean="0"/>
              <a:t>前，本地</a:t>
            </a:r>
            <a:r>
              <a:rPr lang="zh-TW" altLang="en-US" dirty="0"/>
              <a:t>與遠端儲存</a:t>
            </a:r>
            <a:r>
              <a:rPr lang="zh-TW" altLang="en-US" dirty="0" smtClean="0"/>
              <a:t>庫的資料需先同步更新。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使用</a:t>
            </a:r>
            <a:r>
              <a:rPr lang="en-US" altLang="zh-TW" dirty="0" smtClean="0">
                <a:solidFill>
                  <a:srgbClr val="00B050"/>
                </a:solidFill>
              </a:rPr>
              <a:t>pull</a:t>
            </a:r>
            <a:r>
              <a:rPr lang="zh-TW" altLang="en-US" dirty="0" smtClean="0"/>
              <a:t>先將資料下載至本地端儲存庫。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2E8B86-DC69-4C39-B821-C00A8C109DEC}" type="slidenum">
              <a:rPr lang="zh-TW" altLang="en-US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2896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/>
              <a:t>版本管控</a:t>
            </a:r>
            <a:endParaRPr lang="en-US" altLang="zh-TW" dirty="0"/>
          </a:p>
          <a:p>
            <a:pPr eaLnBrk="1" hangingPunct="1"/>
            <a:r>
              <a:rPr lang="en-US" altLang="zh-TW" dirty="0" err="1"/>
              <a:t>Git</a:t>
            </a:r>
            <a:r>
              <a:rPr lang="zh-TW" altLang="en-US" dirty="0"/>
              <a:t>安裝與操作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GitHub</a:t>
            </a:r>
            <a:r>
              <a:rPr lang="zh-TW" altLang="en-US" dirty="0"/>
              <a:t>註冊與</a:t>
            </a:r>
            <a:r>
              <a:rPr lang="zh-TW" altLang="en-US" dirty="0" smtClean="0"/>
              <a:t>操作</a:t>
            </a:r>
            <a:endParaRPr lang="en-US" altLang="zh-TW" dirty="0" smtClean="0"/>
          </a:p>
          <a:p>
            <a:pPr eaLnBrk="1" hangingPunct="1"/>
            <a:r>
              <a:rPr lang="en-US" altLang="zh-TW" dirty="0">
                <a:solidFill>
                  <a:schemeClr val="folHlink"/>
                </a:solidFill>
              </a:rPr>
              <a:t>GitHub</a:t>
            </a:r>
            <a:r>
              <a:rPr lang="zh-TW" altLang="en-US" dirty="0">
                <a:solidFill>
                  <a:schemeClr val="folHlink"/>
                </a:solidFill>
              </a:rPr>
              <a:t>多人合作</a:t>
            </a:r>
            <a:endParaRPr lang="en-US" altLang="zh-TW" dirty="0">
              <a:solidFill>
                <a:schemeClr val="folHlink"/>
              </a:solidFill>
            </a:endParaRPr>
          </a:p>
          <a:p>
            <a:pPr eaLnBrk="1" hangingPunct="1"/>
            <a:r>
              <a:rPr lang="zh-TW" altLang="en-US" dirty="0"/>
              <a:t>實作練習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515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多人</a:t>
            </a:r>
            <a:r>
              <a:rPr lang="zh-TW" altLang="en-US" dirty="0" smtClean="0"/>
              <a:t>合作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多人</a:t>
            </a:r>
            <a:r>
              <a:rPr lang="zh-TW" altLang="en-US" dirty="0" smtClean="0"/>
              <a:t>合作</a:t>
            </a:r>
            <a:r>
              <a:rPr lang="en-US" altLang="zh-TW" dirty="0" smtClean="0"/>
              <a:t>(Collaborators)</a:t>
            </a:r>
          </a:p>
          <a:p>
            <a:pPr lvl="1"/>
            <a:r>
              <a:rPr lang="zh-TW" altLang="en-US" dirty="0"/>
              <a:t>適用於</a:t>
            </a:r>
            <a:r>
              <a:rPr lang="zh-TW" altLang="en-US" dirty="0" smtClean="0"/>
              <a:t>一個團隊之間</a:t>
            </a:r>
            <a:r>
              <a:rPr lang="zh-TW" altLang="en-US" dirty="0"/>
              <a:t>的</a:t>
            </a:r>
            <a:r>
              <a:rPr lang="zh-TW" altLang="en-US" dirty="0" smtClean="0"/>
              <a:t>合作。</a:t>
            </a:r>
            <a:endParaRPr lang="zh-TW" altLang="en-US" dirty="0"/>
          </a:p>
          <a:p>
            <a:pPr lvl="1"/>
            <a:r>
              <a:rPr lang="zh-TW" altLang="en-US" dirty="0" smtClean="0"/>
              <a:t>負責建立此</a:t>
            </a:r>
            <a:r>
              <a:rPr lang="en-US" altLang="zh-TW" dirty="0" smtClean="0"/>
              <a:t>repository</a:t>
            </a:r>
            <a:r>
              <a:rPr lang="zh-TW" altLang="en-US" dirty="0" smtClean="0"/>
              <a:t>的人，進入</a:t>
            </a:r>
            <a:r>
              <a:rPr lang="en-US" altLang="zh-TW" dirty="0" smtClean="0"/>
              <a:t>settings</a:t>
            </a:r>
            <a:r>
              <a:rPr lang="zh-TW" altLang="en-US" dirty="0" smtClean="0"/>
              <a:t>，加入</a:t>
            </a:r>
            <a:r>
              <a:rPr lang="en-US" altLang="zh-TW" dirty="0" smtClean="0"/>
              <a:t>collaborators</a:t>
            </a:r>
            <a:r>
              <a:rPr lang="zh-TW" altLang="en-US" dirty="0" smtClean="0"/>
              <a:t>的帳號。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2049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t="11545"/>
          <a:stretch/>
        </p:blipFill>
        <p:spPr>
          <a:xfrm>
            <a:off x="1475656" y="548680"/>
            <a:ext cx="6820853" cy="43289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47664" y="1124744"/>
            <a:ext cx="2160240" cy="335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385223" y="4293097"/>
            <a:ext cx="91496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112" y="5039444"/>
            <a:ext cx="485394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24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輸入成功後，會寄出邀請信，等待邀請同意後，即可成為協同合作者。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2E8B86-DC69-4C39-B821-C00A8C109DEC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61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協同運作</a:t>
            </a:r>
            <a:r>
              <a:rPr lang="zh-TW" altLang="en-US" dirty="0" smtClean="0"/>
              <a:t>模式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/>
              <a:t>將遠端儲存</a:t>
            </a:r>
            <a:r>
              <a:rPr lang="zh-TW" altLang="en-US" sz="2800" dirty="0" smtClean="0"/>
              <a:t>庫</a:t>
            </a:r>
            <a:r>
              <a:rPr lang="en-US" altLang="zh-TW" sz="2800" dirty="0" smtClean="0"/>
              <a:t>(</a:t>
            </a:r>
            <a:r>
              <a:rPr lang="zh-TW" altLang="en-US" sz="2800" dirty="0"/>
              <a:t>擁有者所</a:t>
            </a:r>
            <a:r>
              <a:rPr lang="zh-TW" altLang="en-US" sz="2800" dirty="0" smtClean="0"/>
              <a:t>維護</a:t>
            </a:r>
            <a:r>
              <a:rPr lang="en-US" altLang="zh-TW" sz="2800" dirty="0" smtClean="0"/>
              <a:t>)</a:t>
            </a:r>
            <a:r>
              <a:rPr lang="zh-TW" altLang="en-US" sz="2800" dirty="0"/>
              <a:t>一個分支的交付</a:t>
            </a:r>
            <a:r>
              <a:rPr lang="zh-TW" altLang="en-US" sz="2800" dirty="0" smtClean="0"/>
              <a:t>歷程</a:t>
            </a:r>
            <a:r>
              <a:rPr lang="zh-TW" altLang="en-US" sz="2800" dirty="0" smtClean="0">
                <a:solidFill>
                  <a:srgbClr val="C00000"/>
                </a:solidFill>
              </a:rPr>
              <a:t>複製</a:t>
            </a:r>
            <a:r>
              <a:rPr lang="en-US" altLang="zh-TW" sz="2800" dirty="0" smtClean="0">
                <a:solidFill>
                  <a:srgbClr val="C00000"/>
                </a:solidFill>
              </a:rPr>
              <a:t>(</a:t>
            </a:r>
            <a:r>
              <a:rPr lang="en-US" altLang="zh-TW" sz="2800" dirty="0">
                <a:solidFill>
                  <a:srgbClr val="C00000"/>
                </a:solidFill>
              </a:rPr>
              <a:t>clone</a:t>
            </a:r>
            <a:r>
              <a:rPr lang="en-US" altLang="zh-TW" sz="2800" dirty="0" smtClean="0">
                <a:solidFill>
                  <a:srgbClr val="C00000"/>
                </a:solidFill>
              </a:rPr>
              <a:t>)</a:t>
            </a:r>
            <a:r>
              <a:rPr lang="zh-TW" altLang="en-US" sz="2800" dirty="0" smtClean="0"/>
              <a:t>到</a:t>
            </a:r>
            <a:r>
              <a:rPr lang="zh-TW" altLang="en-US" sz="2800" dirty="0"/>
              <a:t>本地端</a:t>
            </a:r>
            <a:r>
              <a:rPr lang="zh-TW" altLang="en-US" sz="2800" dirty="0" smtClean="0"/>
              <a:t>儲存庫</a:t>
            </a:r>
            <a:r>
              <a:rPr lang="en-US" altLang="zh-TW" sz="2800" dirty="0"/>
              <a:t>(</a:t>
            </a:r>
            <a:r>
              <a:rPr lang="zh-TW" altLang="en-US" sz="2800" dirty="0"/>
              <a:t>協同合作者所</a:t>
            </a:r>
            <a:r>
              <a:rPr lang="zh-TW" altLang="en-US" sz="2800" dirty="0" smtClean="0"/>
              <a:t>維護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。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39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74" y="3603416"/>
            <a:ext cx="6648226" cy="284539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738447" y="6477874"/>
            <a:ext cx="34339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  <a:latin typeface="+mn-lt"/>
                <a:ea typeface="+mn-ea"/>
              </a:rPr>
              <a:t>--from 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版本管控與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n-ea"/>
              </a:rPr>
              <a:t>GitHub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簡介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陳錫民教授</a:t>
            </a:r>
            <a:endParaRPr lang="zh-TW" altLang="en-US" sz="14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0418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/>
              <a:t>協同合作者可以將修改的交付</a:t>
            </a:r>
            <a:r>
              <a:rPr lang="zh-TW" altLang="en-US" sz="2800" dirty="0" smtClean="0"/>
              <a:t>透過</a:t>
            </a:r>
            <a:r>
              <a:rPr lang="en-US" altLang="zh-TW" sz="2800" dirty="0" smtClean="0">
                <a:solidFill>
                  <a:srgbClr val="C00000"/>
                </a:solidFill>
              </a:rPr>
              <a:t>push</a:t>
            </a:r>
            <a:r>
              <a:rPr lang="zh-TW" altLang="en-US" sz="2800" dirty="0" smtClean="0">
                <a:solidFill>
                  <a:srgbClr val="C00000"/>
                </a:solidFill>
              </a:rPr>
              <a:t>指令</a:t>
            </a:r>
            <a:r>
              <a:rPr lang="zh-TW" altLang="en-US" sz="2800" dirty="0"/>
              <a:t>同步至遠端儲存</a:t>
            </a:r>
            <a:r>
              <a:rPr lang="zh-TW" altLang="en-US" sz="2800" dirty="0" smtClean="0"/>
              <a:t>庫。</a:t>
            </a:r>
            <a:endParaRPr lang="zh-TW" altLang="en-US" sz="2800" dirty="0"/>
          </a:p>
          <a:p>
            <a:r>
              <a:rPr lang="zh-TW" altLang="en-US" sz="2800" dirty="0" smtClean="0"/>
              <a:t>而</a:t>
            </a:r>
            <a:r>
              <a:rPr lang="zh-TW" altLang="en-US" sz="2800" dirty="0"/>
              <a:t>其他團隊成員可以</a:t>
            </a:r>
            <a:r>
              <a:rPr lang="zh-TW" altLang="en-US" sz="2800" dirty="0" smtClean="0"/>
              <a:t>透過</a:t>
            </a:r>
            <a:r>
              <a:rPr lang="en-US" altLang="zh-TW" sz="2800" dirty="0" smtClean="0">
                <a:solidFill>
                  <a:srgbClr val="C00000"/>
                </a:solidFill>
              </a:rPr>
              <a:t>pull</a:t>
            </a:r>
            <a:r>
              <a:rPr lang="zh-TW" altLang="en-US" sz="2800" dirty="0" smtClean="0">
                <a:solidFill>
                  <a:srgbClr val="C00000"/>
                </a:solidFill>
              </a:rPr>
              <a:t>指令</a:t>
            </a:r>
            <a:r>
              <a:rPr lang="zh-TW" altLang="en-US" sz="2800" dirty="0"/>
              <a:t>將遠端儲存庫的最新交付版本同步</a:t>
            </a:r>
            <a:r>
              <a:rPr lang="zh-TW" altLang="en-US" sz="2800" dirty="0" smtClean="0"/>
              <a:t>至本地端</a:t>
            </a:r>
            <a:r>
              <a:rPr lang="zh-TW" altLang="en-US" sz="2800" dirty="0"/>
              <a:t>儲存</a:t>
            </a:r>
            <a:r>
              <a:rPr lang="zh-TW" altLang="en-US" sz="2800" dirty="0" smtClean="0"/>
              <a:t>庫。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40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933056"/>
            <a:ext cx="6626711" cy="254956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740422" y="6477874"/>
            <a:ext cx="34339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  <a:latin typeface="+mn-lt"/>
                <a:ea typeface="+mn-ea"/>
              </a:rPr>
              <a:t>--from 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版本管控與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n-ea"/>
              </a:rPr>
              <a:t>GitHub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簡介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陳錫民教授</a:t>
            </a:r>
            <a:endParaRPr lang="zh-TW" altLang="en-US" sz="14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8605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下載同步更新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git</a:t>
            </a:r>
            <a:r>
              <a:rPr lang="en-US" altLang="zh-TW" dirty="0"/>
              <a:t> push </a:t>
            </a:r>
            <a:r>
              <a:rPr lang="zh-TW" altLang="en-US" dirty="0"/>
              <a:t>是在推送資料到</a:t>
            </a:r>
            <a:r>
              <a:rPr lang="zh-TW" altLang="en-US" dirty="0" smtClean="0"/>
              <a:t>遠端儲存庫。</a:t>
            </a:r>
            <a:endParaRPr lang="en-US" altLang="zh-TW" dirty="0" smtClean="0"/>
          </a:p>
          <a:p>
            <a:r>
              <a:rPr lang="en-US" altLang="zh-TW" dirty="0" err="1"/>
              <a:t>git</a:t>
            </a:r>
            <a:r>
              <a:rPr lang="en-US" altLang="zh-TW" dirty="0"/>
              <a:t> pull </a:t>
            </a:r>
            <a:r>
              <a:rPr lang="zh-TW" altLang="en-US" dirty="0"/>
              <a:t>來下載同步</a:t>
            </a:r>
            <a:r>
              <a:rPr lang="zh-TW" altLang="en-US" dirty="0" smtClean="0"/>
              <a:t>更新至本地儲存</a:t>
            </a:r>
            <a:r>
              <a:rPr lang="zh-TW" altLang="en-US" dirty="0"/>
              <a:t>庫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dirty="0" err="1">
                <a:solidFill>
                  <a:srgbClr val="00B050"/>
                </a:solidFill>
              </a:rPr>
              <a:t>git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 smtClean="0">
                <a:solidFill>
                  <a:srgbClr val="00B050"/>
                </a:solidFill>
              </a:rPr>
              <a:t>pull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40543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小結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可以</a:t>
            </a:r>
            <a:r>
              <a:rPr lang="zh-TW" altLang="en-US" dirty="0"/>
              <a:t>對「單一檔案」做 </a:t>
            </a:r>
            <a:r>
              <a:rPr lang="en-US" altLang="zh-TW" dirty="0" err="1"/>
              <a:t>git</a:t>
            </a:r>
            <a:r>
              <a:rPr lang="en-US" altLang="zh-TW" dirty="0"/>
              <a:t> </a:t>
            </a:r>
            <a:r>
              <a:rPr lang="en-US" altLang="zh-TW" dirty="0" smtClean="0"/>
              <a:t>add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可以</a:t>
            </a:r>
            <a:r>
              <a:rPr lang="zh-TW" altLang="en-US" dirty="0"/>
              <a:t>對「單一檔案」做 </a:t>
            </a:r>
            <a:r>
              <a:rPr lang="en-US" altLang="zh-TW" dirty="0" err="1"/>
              <a:t>git</a:t>
            </a:r>
            <a:r>
              <a:rPr lang="en-US" altLang="zh-TW" dirty="0"/>
              <a:t> </a:t>
            </a:r>
            <a:r>
              <a:rPr lang="en-US" altLang="zh-TW" dirty="0" smtClean="0"/>
              <a:t>commit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push </a:t>
            </a:r>
            <a:r>
              <a:rPr lang="en-US" altLang="zh-TW" dirty="0"/>
              <a:t>/ pull </a:t>
            </a:r>
            <a:r>
              <a:rPr lang="zh-TW" altLang="en-US" dirty="0"/>
              <a:t>無法只推或拉「單一檔案</a:t>
            </a:r>
            <a:r>
              <a:rPr lang="zh-TW" altLang="en-US" dirty="0" smtClean="0"/>
              <a:t>」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push </a:t>
            </a:r>
            <a:r>
              <a:rPr lang="zh-TW" altLang="en-US" dirty="0" smtClean="0"/>
              <a:t>是</a:t>
            </a:r>
            <a:r>
              <a:rPr lang="zh-TW" altLang="en-US" dirty="0"/>
              <a:t>在</a:t>
            </a:r>
            <a:r>
              <a:rPr lang="zh-TW" altLang="en-US" dirty="0" smtClean="0"/>
              <a:t>同步你</a:t>
            </a:r>
            <a:r>
              <a:rPr lang="zh-TW" altLang="en-US" dirty="0"/>
              <a:t>的本地</a:t>
            </a:r>
            <a:r>
              <a:rPr lang="zh-TW" altLang="en-US" dirty="0" smtClean="0"/>
              <a:t>分支</a:t>
            </a:r>
            <a:r>
              <a:rPr lang="en-US" altLang="zh-TW" dirty="0" smtClean="0"/>
              <a:t>(branch)</a:t>
            </a:r>
            <a:r>
              <a:rPr lang="zh-TW" altLang="en-US" dirty="0" smtClean="0"/>
              <a:t> </a:t>
            </a:r>
            <a:r>
              <a:rPr lang="zh-TW" altLang="en-US" dirty="0"/>
              <a:t>→ 遠端</a:t>
            </a:r>
            <a:r>
              <a:rPr lang="zh-TW" altLang="en-US" dirty="0" smtClean="0"/>
              <a:t>分支。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pull </a:t>
            </a:r>
            <a:r>
              <a:rPr lang="zh-TW" altLang="en-US" dirty="0" smtClean="0"/>
              <a:t>是</a:t>
            </a:r>
            <a:r>
              <a:rPr lang="zh-TW" altLang="en-US" dirty="0"/>
              <a:t>在</a:t>
            </a:r>
            <a:r>
              <a:rPr lang="zh-TW" altLang="en-US" dirty="0" smtClean="0"/>
              <a:t>同步遠端</a:t>
            </a:r>
            <a:r>
              <a:rPr lang="zh-TW" altLang="en-US" dirty="0"/>
              <a:t>分支 → 你的本地</a:t>
            </a:r>
            <a:r>
              <a:rPr lang="zh-TW" altLang="en-US" dirty="0" smtClean="0"/>
              <a:t>分支。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128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</a:t>
            </a:r>
            <a:r>
              <a:rPr lang="zh-TW" altLang="en-US" dirty="0" smtClean="0"/>
              <a:t>一個</a:t>
            </a:r>
            <a:r>
              <a:rPr lang="en-US" altLang="zh-TW" dirty="0" err="1" smtClean="0"/>
              <a:t>Git</a:t>
            </a:r>
            <a:r>
              <a:rPr lang="zh-TW" altLang="en-US" dirty="0" smtClean="0"/>
              <a:t>遠端儲存</a:t>
            </a:r>
            <a:r>
              <a:rPr lang="zh-TW" altLang="en-US" dirty="0"/>
              <a:t>庫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err="1">
                <a:solidFill>
                  <a:srgbClr val="00B050"/>
                </a:solidFill>
              </a:rPr>
              <a:t>git</a:t>
            </a:r>
            <a:r>
              <a:rPr lang="en-US" altLang="zh-TW" sz="2800" dirty="0">
                <a:solidFill>
                  <a:srgbClr val="00B050"/>
                </a:solidFill>
              </a:rPr>
              <a:t> clone [</a:t>
            </a:r>
            <a:r>
              <a:rPr lang="en-US" altLang="zh-TW" sz="2800" dirty="0" err="1">
                <a:solidFill>
                  <a:srgbClr val="00B050"/>
                </a:solidFill>
              </a:rPr>
              <a:t>url</a:t>
            </a:r>
            <a:r>
              <a:rPr lang="en-US" altLang="zh-TW" sz="2800" dirty="0" smtClean="0">
                <a:solidFill>
                  <a:srgbClr val="00B050"/>
                </a:solidFill>
              </a:rPr>
              <a:t>]</a:t>
            </a:r>
          </a:p>
          <a:p>
            <a:pPr lvl="1"/>
            <a:r>
              <a:rPr lang="zh-TW" altLang="en-US" sz="2400" dirty="0" smtClean="0"/>
              <a:t>例如：</a:t>
            </a:r>
            <a:r>
              <a:rPr lang="en-US" altLang="zh-TW" sz="2400" dirty="0" err="1" smtClean="0">
                <a:solidFill>
                  <a:srgbClr val="00B050"/>
                </a:solidFill>
              </a:rPr>
              <a:t>git</a:t>
            </a:r>
            <a:r>
              <a:rPr lang="en-US" altLang="zh-TW" sz="2400" dirty="0" smtClean="0">
                <a:solidFill>
                  <a:srgbClr val="00B050"/>
                </a:solidFill>
              </a:rPr>
              <a:t> </a:t>
            </a:r>
            <a:r>
              <a:rPr lang="en-US" altLang="zh-TW" sz="2400" dirty="0">
                <a:solidFill>
                  <a:srgbClr val="00B050"/>
                </a:solidFill>
              </a:rPr>
              <a:t>clone https://</a:t>
            </a:r>
            <a:r>
              <a:rPr lang="en-US" altLang="zh-TW" sz="2400" dirty="0" smtClean="0">
                <a:solidFill>
                  <a:srgbClr val="00B050"/>
                </a:solidFill>
              </a:rPr>
              <a:t>github.com/example/my-project</a:t>
            </a:r>
          </a:p>
          <a:p>
            <a:r>
              <a:rPr lang="en-US" altLang="zh-TW" sz="2800" dirty="0" err="1">
                <a:solidFill>
                  <a:srgbClr val="00B050"/>
                </a:solidFill>
              </a:rPr>
              <a:t>git</a:t>
            </a:r>
            <a:r>
              <a:rPr lang="en-US" altLang="zh-TW" sz="2800" dirty="0">
                <a:solidFill>
                  <a:srgbClr val="00B050"/>
                </a:solidFill>
              </a:rPr>
              <a:t> clone [</a:t>
            </a:r>
            <a:r>
              <a:rPr lang="en-US" altLang="zh-TW" sz="2800" dirty="0" err="1">
                <a:solidFill>
                  <a:srgbClr val="00B050"/>
                </a:solidFill>
              </a:rPr>
              <a:t>url</a:t>
            </a:r>
            <a:r>
              <a:rPr lang="en-US" altLang="zh-TW" sz="2800" dirty="0" smtClean="0">
                <a:solidFill>
                  <a:srgbClr val="00B050"/>
                </a:solidFill>
              </a:rPr>
              <a:t>] [</a:t>
            </a:r>
            <a:r>
              <a:rPr lang="en-US" altLang="zh-TW" sz="2800" dirty="0" err="1" smtClean="0">
                <a:solidFill>
                  <a:srgbClr val="00B050"/>
                </a:solidFill>
              </a:rPr>
              <a:t>new_dir</a:t>
            </a:r>
            <a:r>
              <a:rPr lang="en-US" altLang="zh-TW" sz="2800" dirty="0" smtClean="0">
                <a:solidFill>
                  <a:srgbClr val="00B050"/>
                </a:solidFill>
              </a:rPr>
              <a:t>]</a:t>
            </a:r>
            <a:endParaRPr lang="en-US" altLang="zh-TW" sz="2800" dirty="0">
              <a:solidFill>
                <a:srgbClr val="00B050"/>
              </a:solidFill>
            </a:endParaRPr>
          </a:p>
          <a:p>
            <a:pPr lvl="1"/>
            <a:r>
              <a:rPr lang="zh-TW" altLang="en-US" sz="2400" dirty="0"/>
              <a:t>例如</a:t>
            </a:r>
            <a:r>
              <a:rPr lang="zh-TW" altLang="en-US" sz="2400" dirty="0" smtClean="0"/>
              <a:t>：</a:t>
            </a:r>
            <a:endParaRPr lang="en-US" altLang="zh-TW" sz="2400" dirty="0" smtClean="0"/>
          </a:p>
          <a:p>
            <a:pPr marL="457200" lvl="1" indent="0">
              <a:buNone/>
            </a:pPr>
            <a:r>
              <a:rPr lang="en-US" altLang="zh-TW" sz="2200" dirty="0" err="1" smtClean="0">
                <a:solidFill>
                  <a:srgbClr val="00B050"/>
                </a:solidFill>
              </a:rPr>
              <a:t>git</a:t>
            </a:r>
            <a:r>
              <a:rPr lang="en-US" altLang="zh-TW" sz="2200" dirty="0" smtClean="0">
                <a:solidFill>
                  <a:srgbClr val="00B050"/>
                </a:solidFill>
              </a:rPr>
              <a:t> </a:t>
            </a:r>
            <a:r>
              <a:rPr lang="en-US" altLang="zh-TW" sz="2200" dirty="0">
                <a:solidFill>
                  <a:srgbClr val="00B050"/>
                </a:solidFill>
              </a:rPr>
              <a:t>clone https://</a:t>
            </a:r>
            <a:r>
              <a:rPr lang="en-US" altLang="zh-TW" sz="2200" dirty="0" smtClean="0">
                <a:solidFill>
                  <a:srgbClr val="00B050"/>
                </a:solidFill>
              </a:rPr>
              <a:t>github.com/example/my-project </a:t>
            </a:r>
            <a:r>
              <a:rPr lang="en-US" altLang="zh-TW" sz="2200" dirty="0" err="1" smtClean="0">
                <a:solidFill>
                  <a:srgbClr val="00B050"/>
                </a:solidFill>
              </a:rPr>
              <a:t>my_newdir</a:t>
            </a:r>
            <a:endParaRPr lang="zh-TW" altLang="en-US" sz="2200" dirty="0">
              <a:solidFill>
                <a:srgbClr val="00B05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064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/>
              <a:t>版本管控</a:t>
            </a:r>
            <a:endParaRPr lang="en-US" altLang="zh-TW" dirty="0"/>
          </a:p>
          <a:p>
            <a:pPr eaLnBrk="1" hangingPunct="1"/>
            <a:r>
              <a:rPr lang="en-US" altLang="zh-TW" dirty="0" err="1"/>
              <a:t>Git</a:t>
            </a:r>
            <a:r>
              <a:rPr lang="zh-TW" altLang="en-US" dirty="0"/>
              <a:t>安裝與操作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GitHub</a:t>
            </a:r>
            <a:r>
              <a:rPr lang="zh-TW" altLang="en-US" dirty="0"/>
              <a:t>註冊與</a:t>
            </a:r>
            <a:r>
              <a:rPr lang="zh-TW" altLang="en-US" dirty="0" smtClean="0"/>
              <a:t>操作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GitHub</a:t>
            </a:r>
            <a:r>
              <a:rPr lang="zh-TW" altLang="en-US" dirty="0" smtClean="0"/>
              <a:t>多</a:t>
            </a:r>
            <a:r>
              <a:rPr lang="zh-TW" altLang="en-US" dirty="0"/>
              <a:t>人</a:t>
            </a:r>
            <a:r>
              <a:rPr lang="zh-TW" altLang="en-US" dirty="0" smtClean="0"/>
              <a:t>合作</a:t>
            </a:r>
            <a:endParaRPr lang="en-US" altLang="zh-TW" dirty="0" smtClean="0"/>
          </a:p>
          <a:p>
            <a:pPr eaLnBrk="1" hangingPunct="1"/>
            <a:r>
              <a:rPr lang="zh-TW" altLang="en-US" dirty="0">
                <a:solidFill>
                  <a:schemeClr val="folHlink"/>
                </a:solidFill>
              </a:rPr>
              <a:t>實作練習</a:t>
            </a:r>
            <a:endParaRPr lang="en-US" altLang="zh-TW" dirty="0">
              <a:solidFill>
                <a:schemeClr val="folHlink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958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</a:t>
            </a:r>
            <a:r>
              <a:rPr lang="zh-TW" altLang="en-US" dirty="0"/>
              <a:t>作練習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同學各自完成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帳號之申請。</a:t>
            </a:r>
            <a:endParaRPr lang="en-US" altLang="zh-TW" dirty="0" smtClean="0"/>
          </a:p>
          <a:p>
            <a:r>
              <a:rPr lang="zh-TW" altLang="en-US" dirty="0" smtClean="0"/>
              <a:t>同學分組，推派小組長</a:t>
            </a:r>
            <a:r>
              <a:rPr lang="en-US" altLang="zh-TW" dirty="0" smtClean="0"/>
              <a:t>1</a:t>
            </a:r>
            <a:r>
              <a:rPr lang="zh-TW" altLang="en-US" dirty="0" smtClean="0"/>
              <a:t>名。</a:t>
            </a:r>
            <a:endParaRPr lang="en-US" altLang="zh-TW" dirty="0" smtClean="0"/>
          </a:p>
          <a:p>
            <a:r>
              <a:rPr lang="zh-TW" altLang="en-US" dirty="0" smtClean="0"/>
              <a:t>建立</a:t>
            </a:r>
            <a:r>
              <a:rPr lang="en-US" altLang="zh-TW" dirty="0" smtClean="0"/>
              <a:t>GitHub</a:t>
            </a:r>
            <a:r>
              <a:rPr lang="zh-TW" altLang="en-US" dirty="0" smtClean="0"/>
              <a:t> </a:t>
            </a:r>
            <a:r>
              <a:rPr lang="en-US" altLang="zh-TW" dirty="0" smtClean="0"/>
              <a:t>Repository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將小組成員、及老師加入其中。</a:t>
            </a:r>
            <a:endParaRPr lang="en-US" altLang="zh-TW" dirty="0" smtClean="0"/>
          </a:p>
          <a:p>
            <a:r>
              <a:rPr lang="zh-TW" altLang="en-US" dirty="0" smtClean="0"/>
              <a:t>上傳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或直接新增</a:t>
            </a:r>
            <a:r>
              <a:rPr lang="en-US" altLang="zh-TW" dirty="0" smtClean="0"/>
              <a:t>)</a:t>
            </a:r>
            <a:r>
              <a:rPr lang="zh-TW" altLang="en-US" dirty="0" smtClean="0"/>
              <a:t>簡易測試檔案，並</a:t>
            </a:r>
            <a:r>
              <a:rPr lang="zh-TW" altLang="en-US" dirty="0"/>
              <a:t>分工</a:t>
            </a:r>
            <a:r>
              <a:rPr lang="zh-TW" altLang="en-US" dirty="0" smtClean="0"/>
              <a:t>協作相關修改動作。</a:t>
            </a:r>
            <a:endParaRPr lang="en-US" altLang="zh-TW" dirty="0" smtClean="0"/>
          </a:p>
          <a:p>
            <a:r>
              <a:rPr lang="zh-TW" altLang="en-US" dirty="0" smtClean="0"/>
              <a:t>檢視歷程記錄。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8F5B9-2752-49A5-B12F-BC9C5D29F8D6}" type="slidenum">
              <a:rPr lang="zh-TW" altLang="en-US" smtClean="0"/>
              <a:pPr>
                <a:defRPr/>
              </a:pPr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299766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14974</TotalTime>
  <Words>1892</Words>
  <Application>Microsoft Office PowerPoint</Application>
  <PresentationFormat>如螢幕大小 (4:3)</PresentationFormat>
  <Paragraphs>354</Paragraphs>
  <Slides>45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0" baseType="lpstr">
      <vt:lpstr>新細明體</vt:lpstr>
      <vt:lpstr>標楷體</vt:lpstr>
      <vt:lpstr>Times New Roman</vt:lpstr>
      <vt:lpstr>Wingdings</vt:lpstr>
      <vt:lpstr>Blends</vt:lpstr>
      <vt:lpstr>Python程式設計與應用</vt:lpstr>
      <vt:lpstr>Outline</vt:lpstr>
      <vt:lpstr>版本管控 Version Control</vt:lpstr>
      <vt:lpstr>PowerPoint 簡報</vt:lpstr>
      <vt:lpstr>Outline</vt:lpstr>
      <vt:lpstr>Git安裝</vt:lpstr>
      <vt:lpstr>Git指令操作介面</vt:lpstr>
      <vt:lpstr>Git Bash基本指令</vt:lpstr>
      <vt:lpstr>PowerPoint 簡報</vt:lpstr>
      <vt:lpstr>PowerPoint 簡報</vt:lpstr>
      <vt:lpstr>Git編輯器</vt:lpstr>
      <vt:lpstr>Vim簡易操作</vt:lpstr>
      <vt:lpstr>PowerPoint 簡報</vt:lpstr>
      <vt:lpstr>PowerPoint 簡報</vt:lpstr>
      <vt:lpstr>更換個人資訊</vt:lpstr>
      <vt:lpstr>Git的主要工作區域</vt:lpstr>
      <vt:lpstr>PowerPoint 簡報</vt:lpstr>
      <vt:lpstr>PowerPoint 簡報</vt:lpstr>
      <vt:lpstr>新建儲存庫</vt:lpstr>
      <vt:lpstr>提交版本</vt:lpstr>
      <vt:lpstr>檔案追蹤</vt:lpstr>
      <vt:lpstr>回復或取消變更</vt:lpstr>
      <vt:lpstr>Outline</vt:lpstr>
      <vt:lpstr>GitHub註冊與環境操作</vt:lpstr>
      <vt:lpstr>PowerPoint 簡報</vt:lpstr>
      <vt:lpstr>PowerPoint 簡報</vt:lpstr>
      <vt:lpstr>PowerPoint 簡報</vt:lpstr>
      <vt:lpstr>PowerPoint 簡報</vt:lpstr>
      <vt:lpstr>PowerPoint 簡報</vt:lpstr>
      <vt:lpstr>使用Git將檔案上傳至GitHub</vt:lpstr>
      <vt:lpstr>PowerPoint 簡報</vt:lpstr>
      <vt:lpstr>PowerPoint 簡報</vt:lpstr>
      <vt:lpstr>PowerPoint 簡報</vt:lpstr>
      <vt:lpstr>PowerPoint 簡報</vt:lpstr>
      <vt:lpstr>Outline</vt:lpstr>
      <vt:lpstr>多人合作</vt:lpstr>
      <vt:lpstr>PowerPoint 簡報</vt:lpstr>
      <vt:lpstr>PowerPoint 簡報</vt:lpstr>
      <vt:lpstr>協同運作模式</vt:lpstr>
      <vt:lpstr>PowerPoint 簡報</vt:lpstr>
      <vt:lpstr>下載同步更新</vt:lpstr>
      <vt:lpstr>小結</vt:lpstr>
      <vt:lpstr>取得一個Git遠端儲存庫</vt:lpstr>
      <vt:lpstr>Outline</vt:lpstr>
      <vt:lpstr>實作練習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多媒體與電腦視覺應用</dc:title>
  <dc:creator>Chen Chii-Jen</dc:creator>
  <cp:lastModifiedBy>Chii-Jen Chen</cp:lastModifiedBy>
  <cp:revision>513</cp:revision>
  <cp:lastPrinted>2025-11-30T23:07:36Z</cp:lastPrinted>
  <dcterms:created xsi:type="dcterms:W3CDTF">1601-01-01T00:00:00Z</dcterms:created>
  <dcterms:modified xsi:type="dcterms:W3CDTF">2026-03-12T06:51:31Z</dcterms:modified>
</cp:coreProperties>
</file>